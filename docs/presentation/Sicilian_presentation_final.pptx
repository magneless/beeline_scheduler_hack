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2" r:id="rId2"/>
    <p:sldId id="263" r:id="rId3"/>
    <p:sldId id="264" r:id="rId4"/>
    <p:sldId id="265" r:id="rId5"/>
    <p:sldId id="266" r:id="rId6"/>
    <p:sldId id="279" r:id="rId7"/>
    <p:sldId id="271" r:id="rId8"/>
    <p:sldId id="295" r:id="rId9"/>
    <p:sldId id="296" r:id="rId10"/>
    <p:sldId id="269" r:id="rId11"/>
    <p:sldId id="298" r:id="rId12"/>
    <p:sldId id="270" r:id="rId13"/>
    <p:sldId id="301" r:id="rId14"/>
    <p:sldId id="303" r:id="rId15"/>
    <p:sldId id="277" r:id="rId16"/>
    <p:sldId id="307" r:id="rId17"/>
    <p:sldId id="308" r:id="rId18"/>
    <p:sldId id="306" r:id="rId19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48"/>
    <p:restoredTop sz="94661"/>
  </p:normalViewPr>
  <p:slideViewPr>
    <p:cSldViewPr snapToGrid="0" showGuides="1">
      <p:cViewPr>
        <p:scale>
          <a:sx n="104" d="100"/>
          <a:sy n="104" d="100"/>
        </p:scale>
        <p:origin x="648" y="108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3"/>
          <c:y val="0.12693499999999999"/>
          <c:w val="0.86424199999999995"/>
          <c:h val="0.66747100000000004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prstGeom prst="rect">
              <a:avLst/>
            </a:prstGeom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prstGeom prst="rect">
                <a:avLst/>
              </a:prstGeom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B30-C844-8183-4E51E639DFEE}"/>
              </c:ext>
            </c:extLst>
          </c:dPt>
          <c:dPt>
            <c:idx val="1"/>
            <c:invertIfNegative val="0"/>
            <c:bubble3D val="0"/>
            <c:spPr>
              <a:prstGeom prst="rect">
                <a:avLst/>
              </a:prstGeom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B30-C844-8183-4E51E639DFEE}"/>
              </c:ext>
            </c:extLst>
          </c:dPt>
          <c:dPt>
            <c:idx val="2"/>
            <c:invertIfNegative val="0"/>
            <c:bubble3D val="0"/>
            <c:spPr>
              <a:prstGeom prst="rect">
                <a:avLst/>
              </a:prstGeom>
              <a:solidFill>
                <a:schemeClr val="accent5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B30-C844-8183-4E51E639DFEE}"/>
              </c:ext>
            </c:extLst>
          </c:dPt>
          <c:dPt>
            <c:idx val="3"/>
            <c:invertIfNegative val="0"/>
            <c:bubble3D val="0"/>
            <c:spPr>
              <a:prstGeom prst="rect">
                <a:avLst/>
              </a:prstGeom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B30-C844-8183-4E51E639DFEE}"/>
              </c:ext>
            </c:extLst>
          </c:dPt>
          <c:dLbls>
            <c:dLbl>
              <c:idx val="0"/>
              <c:layout>
                <c:manualLayout>
                  <c:x val="-6.2428886779888528E-3"/>
                  <c:y val="-9.8113726846488509E-17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465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B30-C844-8183-4E51E639DFEE}"/>
                </c:ext>
              </c:extLst>
            </c:dLbl>
            <c:dLbl>
              <c:idx val="1"/>
              <c:layout>
                <c:manualLayout>
                  <c:x val="-6.2428886779888528E-3"/>
                  <c:y val="-2.6758598253990929E-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465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1B30-C844-8183-4E51E639DFE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455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1B30-C844-8183-4E51E639DFE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dirty="0"/>
                      <a:t>331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1B30-C844-8183-4E51E639DFE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 bwMode="auto"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vroom-enhanced</c:v>
                </c:pt>
                <c:pt idx="1">
                  <c:v>VROOM</c:v>
                </c:pt>
                <c:pt idx="2">
                  <c:v>OR-Tools</c:v>
                </c:pt>
                <c:pt idx="3">
                  <c:v>baseline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465</c:v>
                </c:pt>
                <c:pt idx="1">
                  <c:v>465</c:v>
                </c:pt>
                <c:pt idx="2">
                  <c:v>455</c:v>
                </c:pt>
                <c:pt idx="3">
                  <c:v>331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B30-C844-8183-4E51E639DF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baseline="0">
                <a:solidFill>
                  <a:schemeClr val="tx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500"/>
        </c:scaling>
        <c:delete val="0"/>
        <c:axPos val="b"/>
        <c:majorGridlines>
          <c:spPr bwMode="auto">
            <a:prstGeom prst="rect">
              <a:avLst/>
            </a:prstGeom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prstGeom prst="rect">
            <a:avLst/>
          </a:prstGeom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baseline="0">
                <a:solidFill>
                  <a:schemeClr val="tx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688540351"/>
        <c:crosses val="autoZero"/>
        <c:crossBetween val="between"/>
        <c:majorUnit val="100"/>
      </c:valAx>
      <c:spPr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>
      <a:off x="346075" y="1424510"/>
      <a:ext cx="5749925" cy="4401748"/>
    </a:xfrm>
    <a:prstGeom prst="rect">
      <a:avLst/>
    </a:prstGeom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3"/>
          <c:y val="0.12693499999999999"/>
          <c:w val="0.86424199999999995"/>
          <c:h val="0.66747100000000004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prstGeom prst="rect">
              <a:avLst/>
            </a:prstGeom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prstGeom prst="rect">
                <a:avLst/>
              </a:prstGeom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B30-C844-8183-4E51E639DFEE}"/>
              </c:ext>
            </c:extLst>
          </c:dPt>
          <c:dPt>
            <c:idx val="1"/>
            <c:invertIfNegative val="0"/>
            <c:bubble3D val="0"/>
            <c:spPr>
              <a:prstGeom prst="rect">
                <a:avLst/>
              </a:prstGeom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B30-C844-8183-4E51E639DFEE}"/>
              </c:ext>
            </c:extLst>
          </c:dPt>
          <c:dPt>
            <c:idx val="2"/>
            <c:invertIfNegative val="0"/>
            <c:bubble3D val="0"/>
            <c:spPr>
              <a:prstGeom prst="rect">
                <a:avLst/>
              </a:prstGeom>
              <a:solidFill>
                <a:schemeClr val="accent5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B30-C844-8183-4E51E639DFEE}"/>
              </c:ext>
            </c:extLst>
          </c:dPt>
          <c:dPt>
            <c:idx val="3"/>
            <c:invertIfNegative val="0"/>
            <c:bubble3D val="0"/>
            <c:spPr>
              <a:prstGeom prst="rect">
                <a:avLst/>
              </a:prstGeom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B30-C844-8183-4E51E639DFE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61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B30-C844-8183-4E51E639DFE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61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1B30-C844-8183-4E51E639DFE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66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1B30-C844-8183-4E51E639DFE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dirty="0"/>
                      <a:t>72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1B30-C844-8183-4E51E639DFE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 bwMode="auto"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vroom-enhanced</c:v>
                </c:pt>
                <c:pt idx="1">
                  <c:v>VROOM</c:v>
                </c:pt>
                <c:pt idx="2">
                  <c:v>OR-Tools</c:v>
                </c:pt>
                <c:pt idx="3">
                  <c:v>baseline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61</c:v>
                </c:pt>
                <c:pt idx="1">
                  <c:v>61</c:v>
                </c:pt>
                <c:pt idx="2">
                  <c:v>66</c:v>
                </c:pt>
                <c:pt idx="3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B30-C844-8183-4E51E639DF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baseline="0">
                <a:solidFill>
                  <a:schemeClr val="tx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80"/>
        </c:scaling>
        <c:delete val="0"/>
        <c:axPos val="b"/>
        <c:majorGridlines>
          <c:spPr bwMode="auto">
            <a:prstGeom prst="rect">
              <a:avLst/>
            </a:prstGeom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prstGeom prst="rect">
            <a:avLst/>
          </a:prstGeom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baseline="0">
                <a:solidFill>
                  <a:schemeClr val="tx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688540351"/>
        <c:crosses val="autoZero"/>
        <c:crossBetween val="between"/>
        <c:majorUnit val="20"/>
      </c:valAx>
      <c:spPr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>
      <a:off x="346075" y="1424510"/>
      <a:ext cx="5749925" cy="4401748"/>
    </a:xfrm>
    <a:prstGeom prst="rect">
      <a:avLst/>
    </a:prstGeom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3"/>
          <c:y val="0.12693499999999999"/>
          <c:w val="0.86424199999999995"/>
          <c:h val="0.66747100000000004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prstGeom prst="rect">
              <a:avLst/>
            </a:prstGeom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prstGeom prst="rect">
                <a:avLst/>
              </a:prstGeom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B30-C844-8183-4E51E639DFEE}"/>
              </c:ext>
            </c:extLst>
          </c:dPt>
          <c:dPt>
            <c:idx val="1"/>
            <c:invertIfNegative val="0"/>
            <c:bubble3D val="0"/>
            <c:spPr>
              <a:prstGeom prst="rect">
                <a:avLst/>
              </a:prstGeom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B30-C844-8183-4E51E639DFEE}"/>
              </c:ext>
            </c:extLst>
          </c:dPt>
          <c:dPt>
            <c:idx val="2"/>
            <c:invertIfNegative val="0"/>
            <c:bubble3D val="0"/>
            <c:spPr>
              <a:prstGeom prst="rect">
                <a:avLst/>
              </a:prstGeom>
              <a:solidFill>
                <a:schemeClr val="accent5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B30-C844-8183-4E51E639DFEE}"/>
              </c:ext>
            </c:extLst>
          </c:dPt>
          <c:dPt>
            <c:idx val="3"/>
            <c:invertIfNegative val="0"/>
            <c:bubble3D val="0"/>
            <c:spPr>
              <a:prstGeom prst="rect">
                <a:avLst/>
              </a:prstGeom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B30-C844-8183-4E51E639DFE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2176,9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B30-C844-8183-4E51E639DFE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2638,7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1B30-C844-8183-4E51E639DFE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2793,4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1B30-C844-8183-4E51E639DFE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dirty="0"/>
                      <a:t>3410,9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1B30-C844-8183-4E51E639DFE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 bwMode="auto"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vroom-enhanced</c:v>
                </c:pt>
                <c:pt idx="1">
                  <c:v>VROOM</c:v>
                </c:pt>
                <c:pt idx="2">
                  <c:v>OR-Tools</c:v>
                </c:pt>
                <c:pt idx="3">
                  <c:v>baseline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2176.9</c:v>
                </c:pt>
                <c:pt idx="1">
                  <c:v>2638.7</c:v>
                </c:pt>
                <c:pt idx="2">
                  <c:v>2793.4</c:v>
                </c:pt>
                <c:pt idx="3">
                  <c:v>3410.9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B30-C844-8183-4E51E639DF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baseline="0">
                <a:solidFill>
                  <a:schemeClr val="tx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4000"/>
        </c:scaling>
        <c:delete val="0"/>
        <c:axPos val="b"/>
        <c:majorGridlines>
          <c:spPr bwMode="auto">
            <a:prstGeom prst="rect">
              <a:avLst/>
            </a:prstGeom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prstGeom prst="rect">
            <a:avLst/>
          </a:prstGeom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baseline="0">
                <a:solidFill>
                  <a:schemeClr val="tx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688540351"/>
        <c:crosses val="autoZero"/>
        <c:crossBetween val="between"/>
        <c:majorUnit val="1000"/>
      </c:valAx>
      <c:spPr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>
      <a:off x="346075" y="1424510"/>
      <a:ext cx="5749925" cy="4401748"/>
    </a:xfrm>
    <a:prstGeom prst="rect">
      <a:avLst/>
    </a:prstGeom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MarkerLayout/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MarkerLayout/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MarkerLayout/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29.09.2026</a:t>
            </a:fld>
            <a:endParaRPr lang="ru-RU"/>
          </a:p>
        </p:txBody>
      </p:sp>
      <p:sp>
        <p:nvSpPr>
          <p:cNvPr id="1008376219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0EF839-8C2F-1635-BA9E-18E16C384912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D2C792-5871-848D-AF35-371AFE72CB4F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632031-A8E3-4A6E-745D-3A7C7663ED37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76700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D2C792-5871-848D-AF35-371AFE72CB4F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7682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5440481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76689137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5732498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5440481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76689137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5732498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70575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0654A-DB5D-4FA2-BFBA-DA32D08A679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66C42D-DEF1-692D-EB23-56912B18EA73}" type="slidenum">
              <a:rPr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66876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D2C792-5871-848D-AF35-371AFE72CB4F}" type="slidenum">
              <a:r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6340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8989F1-D0BC-C9C6-34DF-3DCD13FDA7B1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8989F1-D0BC-C9C6-34DF-3DCD13FDA7B1}" type="slidenum">
              <a:rPr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66248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8989F1-D0BC-C9C6-34DF-3DCD13FDA7B1}" type="slidenum">
              <a:rPr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1867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66C42D-DEF1-692D-EB23-56912B18EA73}" type="slidenum">
              <a:rPr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2681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29.09.2026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29.09.2026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29.09.2026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29.09.2026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29.09.2026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29.09.2026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29.09.2026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29.09.2026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29.09.2026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29.09.2026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29.09.2026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29.09.2026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29.09.2026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29.09.2026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29.09.2026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29.09.2026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29.09.2026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29.09.2026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29.09.2026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1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4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4" Type="http://schemas.openxmlformats.org/officeDocument/2006/relationships/chart" Target="../charts/char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 lang="en-US" sz="4800" dirty="0"/>
              <a:t>Sicilian</a:t>
            </a:r>
            <a:endParaRPr lang="ru-RU" sz="4800" dirty="0"/>
          </a:p>
        </p:txBody>
      </p:sp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marL="270000" indent="0">
              <a:defRPr/>
            </a:pPr>
            <a:r>
              <a:rPr lang="ru-RU" dirty="0"/>
              <a:t>Кейс 3.</a:t>
            </a:r>
            <a:r>
              <a:rPr lang="en-US" dirty="0"/>
              <a:t> </a:t>
            </a:r>
            <a:r>
              <a:rPr lang="ru-RU" dirty="0"/>
              <a:t>Интеллектуальный сервис планирования рабочих маршрутов для инженеров с учетом временных окон и сложности проводимых работ</a:t>
            </a:r>
          </a:p>
        </p:txBody>
      </p:sp>
      <p:sp>
        <p:nvSpPr>
          <p:cNvPr id="1091804844" name="Скругленный прямоугольник 1"/>
          <p:cNvSpPr/>
          <p:nvPr/>
        </p:nvSpPr>
        <p:spPr bwMode="auto">
          <a:xfrm>
            <a:off x="-551769" y="-151184"/>
            <a:ext cx="4297292" cy="2094283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2" name="Image 18" descr=" ">
            <a:extLst>
              <a:ext uri="{FF2B5EF4-FFF2-40B4-BE49-F238E27FC236}">
                <a16:creationId xmlns:a16="http://schemas.microsoft.com/office/drawing/2014/main" id="{102225B0-5EBA-525F-C8D6-9D56D611A0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8179" y="291856"/>
            <a:ext cx="2425078" cy="77201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9972FD9-A85D-4107-A510-340EDFEC15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177" y="4267066"/>
            <a:ext cx="665417" cy="6654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  <a:endParaRPr dirty="0"/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36606" y="4876070"/>
            <a:ext cx="4945565" cy="158479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sz="1200" dirty="0">
                <a:solidFill>
                  <a:schemeClr val="tx1"/>
                </a:solidFill>
              </a:rPr>
              <a:t>Уникальность нашего решения заключается в том, что окончательное решение о выборе маршрута принимает диспетчер. Система предлагает несколько вариантов, в том числе сценарии со сдвигом временных окон аварий или привлечением дополнительных бригад.</a:t>
            </a:r>
          </a:p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sz="1200" dirty="0">
                <a:solidFill>
                  <a:schemeClr val="tx1"/>
                </a:solidFill>
              </a:rPr>
              <a:t>Перепланирование учитывает как заявки, запланированные к началу рабочего дня, так и назначенные в течение дня, а также отмены заявок, недоступность инженеров и задержки выполнения работ. Дополнительно система учитывает расход оборудования и сохраняет историю изменений плана.</a:t>
            </a:r>
            <a:endParaRPr lang="ru-RU" sz="1200" dirty="0"/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Наврузов Магомед </a:t>
            </a:r>
            <a:r>
              <a:rPr lang="ru-RU" dirty="0" err="1">
                <a:solidFill>
                  <a:schemeClr val="tx1"/>
                </a:solidFill>
              </a:rPr>
              <a:t>Ровшанович</a:t>
            </a:r>
            <a:r>
              <a:rPr lang="ru-RU" dirty="0">
                <a:solidFill>
                  <a:schemeClr val="tx1"/>
                </a:solidFill>
              </a:rPr>
              <a:t>, </a:t>
            </a:r>
            <a:r>
              <a:rPr lang="en-US" dirty="0">
                <a:solidFill>
                  <a:schemeClr val="tx1"/>
                </a:solidFill>
              </a:rPr>
              <a:t>backend-</a:t>
            </a:r>
            <a:r>
              <a:rPr lang="ru-RU" dirty="0">
                <a:solidFill>
                  <a:schemeClr val="tx1"/>
                </a:solidFill>
              </a:rPr>
              <a:t>разработчик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5 человек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 dirty="0">
                <a:solidFill>
                  <a:schemeClr val="tx1"/>
                </a:solidFill>
              </a:rPr>
              <a:t>Команда собралась из друзей, которые решили объединить опыт в разработке и вместе попробовать свои силы на </a:t>
            </a:r>
            <a:r>
              <a:rPr lang="ru-RU" i="1" dirty="0" err="1">
                <a:solidFill>
                  <a:schemeClr val="tx1"/>
                </a:solidFill>
              </a:rPr>
              <a:t>хакатоне</a:t>
            </a:r>
            <a:r>
              <a:rPr lang="ru-RU" i="1" dirty="0">
                <a:solidFill>
                  <a:schemeClr val="tx1"/>
                </a:solidFill>
              </a:rPr>
              <a:t>.</a:t>
            </a:r>
            <a:endParaRPr lang="ru-RU"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Город и регион: </a:t>
            </a:r>
            <a:r>
              <a:rPr lang="ru-RU" dirty="0">
                <a:solidFill>
                  <a:schemeClr val="tx1"/>
                </a:solidFill>
              </a:rPr>
              <a:t>г. Москва и г. Ульяновск</a:t>
            </a:r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ru-RU" sz="2400" dirty="0">
                <a:solidFill>
                  <a:schemeClr val="accent5"/>
                </a:solidFill>
                <a:latin typeface="Montserrat"/>
              </a:rPr>
              <a:t>Команда</a:t>
            </a:r>
            <a:br>
              <a:rPr lang="ru-RU" sz="2400" dirty="0">
                <a:solidFill>
                  <a:schemeClr val="accent5"/>
                </a:solidFill>
                <a:latin typeface="Montserrat"/>
              </a:rPr>
            </a:br>
            <a:r>
              <a:rPr lang="ru-RU" sz="2400" dirty="0">
                <a:solidFill>
                  <a:schemeClr val="accent5"/>
                </a:solidFill>
                <a:latin typeface="Montserrat"/>
              </a:rPr>
              <a:t>«</a:t>
            </a:r>
            <a:r>
              <a:rPr lang="ru-RU" sz="2400" dirty="0" err="1">
                <a:solidFill>
                  <a:schemeClr val="accent5"/>
                </a:solidFill>
                <a:latin typeface="Montserrat"/>
              </a:rPr>
              <a:t>S</a:t>
            </a:r>
            <a:r>
              <a:rPr lang="en-US" sz="2400" dirty="0" err="1">
                <a:solidFill>
                  <a:schemeClr val="accent5"/>
                </a:solidFill>
                <a:latin typeface="Montserrat"/>
              </a:rPr>
              <a:t>icilian</a:t>
            </a:r>
            <a:r>
              <a:rPr lang="ru-RU" sz="2400" dirty="0">
                <a:solidFill>
                  <a:schemeClr val="accent5"/>
                </a:solidFill>
                <a:latin typeface="Montserrat"/>
              </a:rPr>
              <a:t>»</a:t>
            </a: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  <a:endParaRPr dirty="0"/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808027" y="2619903"/>
            <a:ext cx="4945565" cy="153860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sz="1100" dirty="0">
                <a:solidFill>
                  <a:schemeClr val="tx1"/>
                </a:solidFill>
              </a:rPr>
              <a:t>Приложение помогает диспетчеру распределять заявки между выездными бригадами и строить маршруты с учётом срочности, временных окон, навыков и оборудования. На карте и в расписании видны назначения, загрузка бригад и причины, по которым заявки остались без исполнителя. При изменениях диспетчер может пересчитать план и сравнить варианты до их принятия. </a:t>
            </a:r>
            <a:endParaRPr lang="ru-RU" sz="1100" dirty="0"/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2</a:t>
            </a:fld>
            <a:endParaRPr lang="ru-RU" sz="1200">
              <a:solidFill>
                <a:schemeClr val="accent5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F860159-CEC7-DEE1-FCBC-75B7CFF9768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2" b="29760"/>
          <a:stretch/>
        </p:blipFill>
        <p:spPr bwMode="auto">
          <a:xfrm>
            <a:off x="-11876" y="296655"/>
            <a:ext cx="6456363" cy="3166711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 err="1">
                <a:solidFill>
                  <a:schemeClr val="tx1"/>
                </a:solidFill>
              </a:rPr>
              <a:t>B</a:t>
            </a:r>
            <a:r>
              <a:rPr lang="en-US" sz="1200" dirty="0" err="1">
                <a:solidFill>
                  <a:schemeClr val="tx1"/>
                </a:solidFill>
              </a:rPr>
              <a:t>ackend-р</a:t>
            </a:r>
            <a:r>
              <a:rPr lang="ru-RU" sz="1200" dirty="0" err="1">
                <a:solidFill>
                  <a:schemeClr val="tx1"/>
                </a:solidFill>
              </a:rPr>
              <a:t>азработчик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@</a:t>
            </a:r>
            <a:r>
              <a:rPr lang="en-US" sz="1200" dirty="0" err="1">
                <a:solidFill>
                  <a:schemeClr val="tx1"/>
                </a:solidFill>
              </a:rPr>
              <a:t>gleeebus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+7 903 697 54</a:t>
            </a:r>
            <a:r>
              <a:rPr lang="ru-RU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67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 err="1">
                <a:solidFill>
                  <a:schemeClr val="tx1"/>
                </a:solidFill>
              </a:rPr>
              <a:t>K</a:t>
            </a:r>
            <a:r>
              <a:rPr lang="en-US" sz="1200" dirty="0" err="1">
                <a:solidFill>
                  <a:schemeClr val="tx1"/>
                </a:solidFill>
              </a:rPr>
              <a:t>aspersky</a:t>
            </a:r>
            <a:r>
              <a:rPr lang="en-US" sz="1200" dirty="0">
                <a:solidFill>
                  <a:schemeClr val="tx1"/>
                </a:solidFill>
              </a:rPr>
              <a:t> lab/</a:t>
            </a:r>
            <a:r>
              <a:rPr lang="en-US" sz="1200" dirty="0" err="1">
                <a:solidFill>
                  <a:schemeClr val="tx1"/>
                </a:solidFill>
              </a:rPr>
              <a:t>Н</a:t>
            </a:r>
            <a:r>
              <a:rPr lang="ru-RU" sz="1200" dirty="0">
                <a:solidFill>
                  <a:schemeClr val="tx1"/>
                </a:solidFill>
              </a:rPr>
              <a:t>ИУ ВШЭ (магистратура)</a:t>
            </a:r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Глеб </a:t>
            </a:r>
            <a:r>
              <a:rPr lang="ru-RU" sz="1600" b="1" dirty="0" err="1">
                <a:solidFill>
                  <a:schemeClr val="accent5"/>
                </a:solidFill>
              </a:rPr>
              <a:t>Колебанов</a:t>
            </a:r>
            <a:endParaRPr dirty="0"/>
          </a:p>
        </p:txBody>
      </p:sp>
      <p:sp>
        <p:nvSpPr>
          <p:cNvPr id="1717745144" name="Скругленный прямоугольник 58"/>
          <p:cNvSpPr/>
          <p:nvPr/>
        </p:nvSpPr>
        <p:spPr bwMode="auto">
          <a:xfrm>
            <a:off x="495671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67261468" name="Текст 8"/>
          <p:cNvSpPr txBox="1"/>
          <p:nvPr/>
        </p:nvSpPr>
        <p:spPr bwMode="auto"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" sz="1200" dirty="0">
                <a:solidFill>
                  <a:schemeClr val="tx1"/>
                </a:solidFill>
              </a:rPr>
              <a:t>Backend-</a:t>
            </a:r>
            <a:r>
              <a:rPr lang="ru-RU" sz="1200" dirty="0">
                <a:solidFill>
                  <a:schemeClr val="tx1"/>
                </a:solidFill>
              </a:rPr>
              <a:t>разработчик,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менеджер проекта</a:t>
            </a:r>
            <a:endParaRPr lang="ru-RU" sz="1600"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@kasp3RrR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+7 937 873 30 95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 err="1">
                <a:solidFill>
                  <a:schemeClr val="tx1"/>
                </a:solidFill>
              </a:rPr>
              <a:t>УлГУ</a:t>
            </a:r>
            <a:r>
              <a:rPr lang="ru-RU" sz="1200" dirty="0">
                <a:solidFill>
                  <a:schemeClr val="tx1"/>
                </a:solidFill>
              </a:rPr>
              <a:t> + НИУ ВШЭ (магистратура)</a:t>
            </a:r>
          </a:p>
        </p:txBody>
      </p:sp>
      <p:sp>
        <p:nvSpPr>
          <p:cNvPr id="789313918" name="Текст 8"/>
          <p:cNvSpPr txBox="1"/>
          <p:nvPr/>
        </p:nvSpPr>
        <p:spPr bwMode="auto"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Дмитрий Скорняков</a:t>
            </a:r>
            <a:endParaRPr dirty="0"/>
          </a:p>
        </p:txBody>
      </p:sp>
      <p:sp>
        <p:nvSpPr>
          <p:cNvPr id="651037677" name="Скругленный прямоугольник 61"/>
          <p:cNvSpPr/>
          <p:nvPr/>
        </p:nvSpPr>
        <p:spPr bwMode="auto">
          <a:xfrm>
            <a:off x="7262031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99875170" name="Текст 8"/>
          <p:cNvSpPr txBox="1"/>
          <p:nvPr/>
        </p:nvSpPr>
        <p:spPr bwMode="auto"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" sz="1200" dirty="0">
                <a:solidFill>
                  <a:schemeClr val="tx1"/>
                </a:solidFill>
              </a:rPr>
              <a:t>Backend-</a:t>
            </a:r>
            <a:r>
              <a:rPr lang="ru-RU" sz="1200" dirty="0">
                <a:solidFill>
                  <a:schemeClr val="tx1"/>
                </a:solidFill>
              </a:rPr>
              <a:t>разработчик</a:t>
            </a:r>
            <a:endParaRPr lang="ru-RU" sz="1600"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@</a:t>
            </a:r>
            <a:r>
              <a:rPr lang="en-US" sz="1200" dirty="0" err="1">
                <a:solidFill>
                  <a:schemeClr val="tx1"/>
                </a:solidFill>
              </a:rPr>
              <a:t>nvvvddd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+</a:t>
            </a:r>
            <a:r>
              <a:rPr lang="ru-RU" sz="1200" dirty="0">
                <a:solidFill>
                  <a:schemeClr val="tx1"/>
                </a:solidFill>
              </a:rPr>
              <a:t>7 908 489 60 03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 err="1">
                <a:solidFill>
                  <a:schemeClr val="tx1"/>
                </a:solidFill>
              </a:rPr>
              <a:t>УлГУ</a:t>
            </a:r>
            <a:r>
              <a:rPr lang="ru-RU" sz="1200" dirty="0">
                <a:solidFill>
                  <a:schemeClr val="tx1"/>
                </a:solidFill>
              </a:rPr>
              <a:t> + НИУ ВШЭ (магистратура)</a:t>
            </a:r>
          </a:p>
        </p:txBody>
      </p:sp>
      <p:sp>
        <p:nvSpPr>
          <p:cNvPr id="1054387886" name="Текст 8"/>
          <p:cNvSpPr txBox="1"/>
          <p:nvPr/>
        </p:nvSpPr>
        <p:spPr bwMode="auto"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Владислав Дронин</a:t>
            </a:r>
            <a:endParaRPr dirty="0"/>
          </a:p>
        </p:txBody>
      </p:sp>
      <p:sp>
        <p:nvSpPr>
          <p:cNvPr id="2086725175" name="Скругленный прямоугольник 64"/>
          <p:cNvSpPr/>
          <p:nvPr/>
        </p:nvSpPr>
        <p:spPr bwMode="auto">
          <a:xfrm>
            <a:off x="9567349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106280066" name="Текст 8"/>
          <p:cNvSpPr txBox="1"/>
          <p:nvPr/>
        </p:nvSpPr>
        <p:spPr bwMode="auto"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Frontend-</a:t>
            </a:r>
            <a:r>
              <a:rPr lang="en-US" sz="1200" dirty="0" err="1">
                <a:solidFill>
                  <a:schemeClr val="tx1"/>
                </a:solidFill>
              </a:rPr>
              <a:t>ра</a:t>
            </a:r>
            <a:r>
              <a:rPr lang="ru-RU" sz="1200" dirty="0" err="1">
                <a:solidFill>
                  <a:schemeClr val="tx1"/>
                </a:solidFill>
              </a:rPr>
              <a:t>зработчик</a:t>
            </a:r>
            <a:r>
              <a:rPr lang="ru-RU" sz="1200" dirty="0">
                <a:solidFill>
                  <a:schemeClr val="tx1"/>
                </a:solidFill>
              </a:rPr>
              <a:t>,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дизайнер интерфейсов 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@</a:t>
            </a:r>
            <a:r>
              <a:rPr lang="en-US" sz="1200" dirty="0" err="1">
                <a:solidFill>
                  <a:schemeClr val="tx1"/>
                </a:solidFill>
              </a:rPr>
              <a:t>heahopea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+7 951 098 82 64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200" dirty="0" err="1">
                <a:solidFill>
                  <a:schemeClr val="tx1"/>
                </a:solidFill>
              </a:rPr>
              <a:t>У</a:t>
            </a:r>
            <a:r>
              <a:rPr lang="ru-RU" sz="1200" dirty="0" err="1">
                <a:solidFill>
                  <a:schemeClr val="tx1"/>
                </a:solidFill>
              </a:rPr>
              <a:t>лГУ</a:t>
            </a:r>
            <a:r>
              <a:rPr lang="ru-RU" sz="1200" dirty="0">
                <a:solidFill>
                  <a:schemeClr val="tx1"/>
                </a:solidFill>
              </a:rPr>
              <a:t> (магистратура)</a:t>
            </a:r>
          </a:p>
        </p:txBody>
      </p:sp>
      <p:sp>
        <p:nvSpPr>
          <p:cNvPr id="1456275104" name="Текст 8"/>
          <p:cNvSpPr txBox="1"/>
          <p:nvPr/>
        </p:nvSpPr>
        <p:spPr bwMode="auto"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Александр </a:t>
            </a:r>
            <a:r>
              <a:rPr lang="ru-RU" sz="1600" b="1" dirty="0" err="1">
                <a:solidFill>
                  <a:schemeClr val="accent5"/>
                </a:solidFill>
              </a:rPr>
              <a:t>Аюгов</a:t>
            </a:r>
            <a:endParaRPr dirty="0"/>
          </a:p>
        </p:txBody>
      </p:sp>
      <p:sp>
        <p:nvSpPr>
          <p:cNvPr id="481545546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3</a:t>
            </a:fld>
            <a:endParaRPr lang="ru-RU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7D6A143-5638-E549-C6C6-72B49020E8D9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74" b="16274"/>
          <a:stretch/>
        </p:blipFill>
        <p:spPr bwMode="auto">
          <a:xfrm>
            <a:off x="581025" y="1816100"/>
            <a:ext cx="1722438" cy="1552575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08A75A8-52EA-BAC0-1F55-03A65B3DC534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3" b="5253"/>
          <a:stretch>
            <a:fillRect/>
          </a:stretch>
        </p:blipFill>
        <p:spPr bwMode="auto">
          <a:xfrm>
            <a:off x="2886075" y="1827213"/>
            <a:ext cx="1722438" cy="1541462"/>
          </a:xfr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FCAE465-61D9-21F7-4B7C-E480B027416F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58" b="14858"/>
          <a:stretch>
            <a:fillRect/>
          </a:stretch>
        </p:blipFill>
        <p:spPr bwMode="auto">
          <a:xfrm>
            <a:off x="5191125" y="1809750"/>
            <a:ext cx="1722438" cy="1558925"/>
          </a:xfr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30F1C42-1AA5-961E-AF5A-C476610EFC9E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60" b="16060"/>
          <a:stretch>
            <a:fillRect/>
          </a:stretch>
        </p:blipFill>
        <p:spPr bwMode="auto">
          <a:xfrm>
            <a:off x="7519988" y="1809750"/>
            <a:ext cx="1722437" cy="1558925"/>
          </a:xfr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71123C6-9CA6-C5DD-E0ED-78F3084A6C69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09" b="14009"/>
          <a:stretch>
            <a:fillRect/>
          </a:stretch>
        </p:blipFill>
        <p:spPr bwMode="auto">
          <a:xfrm>
            <a:off x="9802813" y="1809750"/>
            <a:ext cx="1722437" cy="1558925"/>
          </a:xfrm>
        </p:spPr>
      </p:pic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latin typeface="Montserrat"/>
              </a:rPr>
              <a:t>Команда «</a:t>
            </a:r>
            <a:r>
              <a:rPr lang="ru-RU" dirty="0" err="1">
                <a:latin typeface="Montserrat"/>
              </a:rPr>
              <a:t>S</a:t>
            </a:r>
            <a:r>
              <a:rPr lang="en-US" dirty="0" err="1">
                <a:latin typeface="Montserrat"/>
              </a:rPr>
              <a:t>icilian</a:t>
            </a:r>
            <a:r>
              <a:rPr lang="ru-RU" dirty="0">
                <a:latin typeface="Montserrat"/>
              </a:rPr>
              <a:t>»</a:t>
            </a:r>
          </a:p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Backend-</a:t>
            </a:r>
            <a:r>
              <a:rPr lang="ru-RU" sz="1200" dirty="0">
                <a:solidFill>
                  <a:schemeClr val="tx1"/>
                </a:solidFill>
              </a:rPr>
              <a:t>разработчик</a:t>
            </a:r>
            <a:r>
              <a:rPr lang="en-US" sz="1200" dirty="0">
                <a:solidFill>
                  <a:schemeClr val="tx1"/>
                </a:solidFill>
              </a:rPr>
              <a:t>, </a:t>
            </a:r>
            <a:r>
              <a:rPr lang="en-US" sz="1200" dirty="0" err="1">
                <a:solidFill>
                  <a:schemeClr val="tx1"/>
                </a:solidFill>
              </a:rPr>
              <a:t>к</a:t>
            </a:r>
            <a:r>
              <a:rPr lang="ru-RU" sz="1200" dirty="0" err="1">
                <a:solidFill>
                  <a:schemeClr val="tx1"/>
                </a:solidFill>
              </a:rPr>
              <a:t>апитан</a:t>
            </a:r>
            <a:r>
              <a:rPr lang="ru-RU" sz="1200" dirty="0">
                <a:solidFill>
                  <a:schemeClr val="tx1"/>
                </a:solidFill>
              </a:rPr>
              <a:t> проекта</a:t>
            </a:r>
            <a:endParaRPr dirty="0"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@</a:t>
            </a:r>
            <a:r>
              <a:rPr lang="en-US" sz="1200" dirty="0" err="1">
                <a:solidFill>
                  <a:schemeClr val="tx1"/>
                </a:solidFill>
              </a:rPr>
              <a:t>magneless</a:t>
            </a:r>
            <a:endParaRPr dirty="0"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+</a:t>
            </a:r>
            <a:r>
              <a:rPr lang="ru-RU" sz="1200" dirty="0">
                <a:solidFill>
                  <a:schemeClr val="tx1"/>
                </a:solidFill>
              </a:rPr>
              <a:t>7 999 887 86 16</a:t>
            </a:r>
            <a:endParaRPr dirty="0"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ИТМО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(магистратура)</a:t>
            </a:r>
            <a:endParaRPr dirty="0"/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Магомед Наврузов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latin typeface="Montserrat"/>
              </a:rPr>
              <a:t>Команда «</a:t>
            </a:r>
            <a:r>
              <a:rPr lang="ru-RU" dirty="0" err="1">
                <a:latin typeface="Montserrat"/>
              </a:rPr>
              <a:t>S</a:t>
            </a:r>
            <a:r>
              <a:rPr lang="en-US" dirty="0" err="1">
                <a:latin typeface="Montserrat"/>
              </a:rPr>
              <a:t>icilian</a:t>
            </a:r>
            <a:r>
              <a:rPr lang="ru-RU" dirty="0">
                <a:latin typeface="Montserrat"/>
              </a:rPr>
              <a:t>»</a:t>
            </a: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6" y="1602273"/>
            <a:ext cx="9351257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200" dirty="0">
                <a:solidFill>
                  <a:schemeClr val="tx1"/>
                </a:solidFill>
              </a:rPr>
              <a:t>Мы собрались из друзей, которых объединил интерес к разработке и желание поработать над реальной задачей. Некоторые из нас уже делали совместные проекты, но в таком составе мы впервые участвуем в </a:t>
            </a:r>
            <a:r>
              <a:rPr lang="ru-RU" sz="1200" dirty="0" err="1">
                <a:solidFill>
                  <a:schemeClr val="tx1"/>
                </a:solidFill>
              </a:rPr>
              <a:t>хакатоне</a:t>
            </a:r>
            <a:r>
              <a:rPr lang="ru-RU" sz="1200" dirty="0">
                <a:solidFill>
                  <a:schemeClr val="tx1"/>
                </a:solidFill>
              </a:rPr>
              <a:t>. Мы живём в разных городах, поэтому с самого начала учились работать как единая команда на расстоянии.</a:t>
            </a:r>
            <a:endParaRPr lang="ru-RU" sz="1200" dirty="0"/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9264489" cy="92918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200" dirty="0">
                <a:solidFill>
                  <a:schemeClr val="tx1"/>
                </a:solidFill>
              </a:rPr>
              <a:t>Самым сложным оказалось перепланирование в течение дня, поскольку нужно учитывать уже начатые работы, новые заявки и оставшееся оборудование. На протяжении всей разработки, мы разбирали и продумывали конкретные сценарии и уточняли правила, чтобы пересчёт сохранял выполнимость плана и учитывал все ограничения. Для параллельной разработки заранее согласовали контракты модулей и регулярно собирали общий сценарий – это помогало находить расхождения до финальной интеграции.</a:t>
            </a:r>
            <a:endParaRPr lang="ru-RU" sz="1200" dirty="0"/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9064256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Большинство участников нашей команды специализируются на </a:t>
            </a:r>
            <a:r>
              <a:rPr lang="ru-RU" dirty="0" err="1">
                <a:solidFill>
                  <a:schemeClr val="tx1"/>
                </a:solidFill>
              </a:rPr>
              <a:t>backend</a:t>
            </a:r>
            <a:r>
              <a:rPr lang="ru-RU" dirty="0">
                <a:solidFill>
                  <a:schemeClr val="tx1"/>
                </a:solidFill>
              </a:rPr>
              <a:t>-разработке, поэтому мы искали задачу, в которой могли бы применить свой опыт и освоить что-то новое. Этот кейс привлёк нас сочетанием сложной задачи оптимизации маршрутов и ощутимой пользы для людей: от качества планирования зависят рабочий день инженера и время ожидания клиента. Мы решили создать инструмент, который помогает диспетчеру принимать обоснованные решения, предлагая варианты действий и сохраняя за ним окончательный выбор.</a:t>
            </a:r>
            <a:endParaRPr lang="ru-RU" dirty="0"/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4279849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ru-RU" sz="1400" b="1" dirty="0">
                <a:solidFill>
                  <a:schemeClr val="tx1"/>
                </a:solidFill>
              </a:rPr>
              <a:t>Архитектура.</a:t>
            </a:r>
            <a:r>
              <a:rPr lang="ru-RU" sz="1400" dirty="0">
                <a:solidFill>
                  <a:schemeClr val="tx1"/>
                </a:solidFill>
              </a:rPr>
              <a:t> Модульный </a:t>
            </a:r>
            <a:r>
              <a:rPr lang="ru-RU" sz="1400" dirty="0" err="1">
                <a:solidFill>
                  <a:schemeClr val="tx1"/>
                </a:solidFill>
              </a:rPr>
              <a:t>backend</a:t>
            </a:r>
            <a:r>
              <a:rPr lang="ru-RU" sz="1400" dirty="0">
                <a:solidFill>
                  <a:schemeClr val="tx1"/>
                </a:solidFill>
              </a:rPr>
              <a:t> на Go, веб-интерфейс на </a:t>
            </a:r>
            <a:r>
              <a:rPr lang="ru-RU" sz="1400" dirty="0" err="1">
                <a:solidFill>
                  <a:schemeClr val="tx1"/>
                </a:solidFill>
              </a:rPr>
              <a:t>React</a:t>
            </a:r>
            <a:r>
              <a:rPr lang="ru-RU" sz="1400" dirty="0">
                <a:solidFill>
                  <a:schemeClr val="tx1"/>
                </a:solidFill>
              </a:rPr>
              <a:t> и </a:t>
            </a:r>
            <a:r>
              <a:rPr lang="ru-RU" sz="1400" dirty="0" err="1">
                <a:solidFill>
                  <a:schemeClr val="tx1"/>
                </a:solidFill>
              </a:rPr>
              <a:t>TypeScript</a:t>
            </a:r>
            <a:r>
              <a:rPr lang="ru-RU" sz="1400" dirty="0">
                <a:solidFill>
                  <a:schemeClr val="tx1"/>
                </a:solidFill>
              </a:rPr>
              <a:t>, </a:t>
            </a:r>
            <a:r>
              <a:rPr lang="ru-RU" sz="1400" dirty="0" err="1">
                <a:solidFill>
                  <a:schemeClr val="tx1"/>
                </a:solidFill>
              </a:rPr>
              <a:t>PostgreSQL</a:t>
            </a:r>
            <a:r>
              <a:rPr lang="ru-RU" sz="1400" dirty="0">
                <a:solidFill>
                  <a:schemeClr val="tx1"/>
                </a:solidFill>
              </a:rPr>
              <a:t> для хранения заявок, планов и истории событий.</a:t>
            </a:r>
            <a:endParaRPr lang="en-US" sz="14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 b="1" dirty="0">
                <a:solidFill>
                  <a:schemeClr val="tx1"/>
                </a:solidFill>
              </a:rPr>
              <a:t>Планирование. </a:t>
            </a:r>
            <a:r>
              <a:rPr lang="ru-RU" sz="1400" dirty="0">
                <a:solidFill>
                  <a:schemeClr val="tx1"/>
                </a:solidFill>
              </a:rPr>
              <a:t>VROOM с дополнительным улучшением маршрутов на Go учитывает навыки, транспорт, оборудование, окна визитов и смены. Время и расстояния по дорогам рассчитываются через OSRM на данных </a:t>
            </a:r>
            <a:r>
              <a:rPr lang="ru-RU" sz="1400" dirty="0" err="1">
                <a:solidFill>
                  <a:schemeClr val="tx1"/>
                </a:solidFill>
              </a:rPr>
              <a:t>OpenStreetMap</a:t>
            </a:r>
            <a:r>
              <a:rPr lang="ru-RU" sz="1400" dirty="0">
                <a:solidFill>
                  <a:schemeClr val="tx1"/>
                </a:solidFill>
              </a:rPr>
              <a:t>.</a:t>
            </a:r>
            <a:endParaRPr lang="en-US" sz="14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 b="1" dirty="0">
                <a:solidFill>
                  <a:schemeClr val="tx1"/>
                </a:solidFill>
              </a:rPr>
              <a:t>Перепланирование.</a:t>
            </a:r>
            <a:r>
              <a:rPr lang="ru-RU" sz="1400" dirty="0">
                <a:solidFill>
                  <a:schemeClr val="tx1"/>
                </a:solidFill>
              </a:rPr>
              <a:t> Изменения, требующие пересчёта, сохраняются в очереди: новые заявки, отмены, недоступность инженеров и задержки выполнения. Диспетчер запускает расчёт оставшейся части дня; начатые и завершённые работы сохраняются.</a:t>
            </a:r>
            <a:endParaRPr lang="en-US" sz="14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 b="1" dirty="0">
                <a:solidFill>
                  <a:schemeClr val="tx1"/>
                </a:solidFill>
              </a:rPr>
              <a:t>Сравнение и принятие плана.</a:t>
            </a:r>
            <a:r>
              <a:rPr lang="ru-RU" sz="1400" dirty="0">
                <a:solidFill>
                  <a:schemeClr val="tx1"/>
                </a:solidFill>
              </a:rPr>
              <a:t> Диспетчер сравнивает назначения, пробег и загрузку бригад до применения изменений. Доступны варианты с допуском опоздания на аварии и привлечением резерва из исходного состава; принятые планы и события сохраняются в истории.</a:t>
            </a:r>
            <a:endParaRPr lang="ru-RU" sz="1400" dirty="0"/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427984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 b="1" dirty="0">
                <a:solidFill>
                  <a:schemeClr val="tx1"/>
                </a:solidFill>
              </a:rPr>
              <a:t>Целевая аудитория.</a:t>
            </a:r>
            <a:r>
              <a:rPr lang="ru-RU" sz="1400" dirty="0">
                <a:solidFill>
                  <a:schemeClr val="tx1"/>
                </a:solidFill>
              </a:rPr>
              <a:t> Диспетчеры выездных бригад Билайна, распределяющие заявки на подключение, ремонт и устранение аварий.</a:t>
            </a:r>
          </a:p>
          <a:p>
            <a:pPr>
              <a:defRPr/>
            </a:pPr>
            <a:r>
              <a:rPr lang="ru-RU" sz="1400" b="1" dirty="0">
                <a:solidFill>
                  <a:schemeClr val="tx1"/>
                </a:solidFill>
              </a:rPr>
              <a:t>Ценность для бизнеса.</a:t>
            </a:r>
            <a:r>
              <a:rPr lang="ru-RU" sz="1400" dirty="0">
                <a:solidFill>
                  <a:schemeClr val="tx1"/>
                </a:solidFill>
              </a:rPr>
              <a:t> Автоматизация ручного распределения заявок с целью сократить пробег и число задействованных бригад. Диспетчер видит последствия изменений до принятия нового плана.</a:t>
            </a:r>
          </a:p>
          <a:p>
            <a:pPr>
              <a:defRPr/>
            </a:pPr>
            <a:r>
              <a:rPr lang="ru-RU" sz="1400" b="1" dirty="0">
                <a:solidFill>
                  <a:schemeClr val="tx1"/>
                </a:solidFill>
              </a:rPr>
              <a:t>Проверка решения.</a:t>
            </a:r>
            <a:r>
              <a:rPr lang="ru-RU" sz="1400" dirty="0">
                <a:solidFill>
                  <a:schemeClr val="tx1"/>
                </a:solidFill>
              </a:rPr>
              <a:t> Сравнение алгоритмов на </a:t>
            </a:r>
            <a:r>
              <a:rPr lang="ru-RU" sz="1400" dirty="0" err="1">
                <a:solidFill>
                  <a:schemeClr val="tx1"/>
                </a:solidFill>
              </a:rPr>
              <a:t>датасетах</a:t>
            </a:r>
            <a:r>
              <a:rPr lang="ru-RU" sz="1400" dirty="0">
                <a:solidFill>
                  <a:schemeClr val="tx1"/>
                </a:solidFill>
              </a:rPr>
              <a:t> кейса по назначенным заявкам, пробегу, числу бригад и времени расчёта. Проверка соблюдения ограничений и обработки событий рабочего дня.</a:t>
            </a:r>
          </a:p>
          <a:p>
            <a:pPr>
              <a:defRPr/>
            </a:pPr>
            <a:r>
              <a:rPr lang="ru-RU" sz="1400" b="1" dirty="0">
                <a:solidFill>
                  <a:schemeClr val="tx1"/>
                </a:solidFill>
              </a:rPr>
              <a:t>Возможное развитие.</a:t>
            </a:r>
            <a:r>
              <a:rPr lang="ru-RU" sz="1400" dirty="0">
                <a:solidFill>
                  <a:schemeClr val="tx1"/>
                </a:solidFill>
              </a:rPr>
              <a:t> Интерфейс инженера для получения маршрута и передачи фактического начала, завершения и задержек работ. После проверки решения в эксплуатации – адаптация для других выездных служб.</a:t>
            </a: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КОРОТКО О РЕШЕНИИ</a:t>
            </a:r>
            <a:endParaRPr dirty="0"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  <a:endParaRPr dirty="0"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4"/>
            <a:ext cx="5214724" cy="365126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183568" name="Скругленный прямоугольник 7"/>
          <p:cNvSpPr/>
          <p:nvPr/>
        </p:nvSpPr>
        <p:spPr bwMode="auto">
          <a:xfrm>
            <a:off x="429141" y="1907931"/>
            <a:ext cx="4870012" cy="4757104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566709802" name="Скругленный прямоугольник 10"/>
          <p:cNvSpPr/>
          <p:nvPr/>
        </p:nvSpPr>
        <p:spPr bwMode="auto">
          <a:xfrm>
            <a:off x="7083469" y="1907931"/>
            <a:ext cx="4870012" cy="4757104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3486554" name="Скругленный прямоугольник 1"/>
          <p:cNvSpPr/>
          <p:nvPr/>
        </p:nvSpPr>
        <p:spPr bwMode="auto">
          <a:xfrm>
            <a:off x="346075" y="324562"/>
            <a:ext cx="610294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28869434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6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30935763" name="Текст 2"/>
          <p:cNvSpPr>
            <a:spLocks noGrp="1"/>
          </p:cNvSpPr>
          <p:nvPr>
            <p:ph type="body" sz="quarter" idx="26"/>
          </p:nvPr>
        </p:nvSpPr>
        <p:spPr bwMode="auto">
          <a:xfrm>
            <a:off x="429141" y="2178433"/>
            <a:ext cx="4870012" cy="4177924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</a:rPr>
              <a:t>     </a:t>
            </a:r>
            <a:r>
              <a:rPr lang="ru-RU" sz="1600" b="1" dirty="0">
                <a:solidFill>
                  <a:schemeClr val="tx1"/>
                </a:solidFill>
              </a:rPr>
              <a:t>Постановка проблемы:</a:t>
            </a:r>
            <a:endParaRPr lang="en-US" sz="1600" b="1" dirty="0">
              <a:solidFill>
                <a:schemeClr val="tx1"/>
              </a:solidFill>
            </a:endParaRPr>
          </a:p>
          <a:p>
            <a:pPr>
              <a:defRPr/>
            </a:pPr>
            <a:endParaRPr lang="ru-RU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tx1"/>
                </a:solidFill>
              </a:rPr>
              <a:t>Ручное распределение.</a:t>
            </a:r>
            <a:r>
              <a:rPr lang="ru-RU" dirty="0">
                <a:solidFill>
                  <a:schemeClr val="tx1"/>
                </a:solidFill>
              </a:rPr>
              <a:t> Диспетчер распределяет заявки по бригадам в ручную, из-за чего может не учесть все ограничения или не оптимальным образом распределить заявки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tx1"/>
                </a:solidFill>
              </a:rPr>
              <a:t>Срочная заявка.</a:t>
            </a:r>
            <a:r>
              <a:rPr lang="ru-RU" dirty="0">
                <a:solidFill>
                  <a:schemeClr val="tx1"/>
                </a:solidFill>
              </a:rPr>
              <a:t> Уже спланированный маршрут может поломаться из-за возникновения срочной заявки, что потребует дополнительных усилий диспетчера по распределению и повысит риск ошибки</a:t>
            </a:r>
          </a:p>
        </p:txBody>
      </p:sp>
      <p:sp>
        <p:nvSpPr>
          <p:cNvPr id="1109396534" name="Текст 4"/>
          <p:cNvSpPr>
            <a:spLocks noGrp="1"/>
          </p:cNvSpPr>
          <p:nvPr>
            <p:ph type="body" sz="quarter" idx="32"/>
          </p:nvPr>
        </p:nvSpPr>
        <p:spPr bwMode="auto">
          <a:xfrm>
            <a:off x="7064324" y="2178433"/>
            <a:ext cx="4870012" cy="4266208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</a:rPr>
              <a:t>     </a:t>
            </a:r>
            <a:r>
              <a:rPr lang="ru-RU" sz="1600" b="1" dirty="0">
                <a:solidFill>
                  <a:schemeClr val="tx1"/>
                </a:solidFill>
              </a:rPr>
              <a:t>Решение:</a:t>
            </a:r>
            <a:endParaRPr lang="en-US" sz="1600" b="1" dirty="0">
              <a:solidFill>
                <a:schemeClr val="tx1"/>
              </a:solidFill>
            </a:endParaRPr>
          </a:p>
          <a:p>
            <a:pPr>
              <a:defRPr/>
            </a:pPr>
            <a:endParaRPr lang="ru-RU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tx1"/>
                </a:solidFill>
              </a:rPr>
              <a:t>Автоматизация процесса.</a:t>
            </a:r>
            <a:r>
              <a:rPr lang="ru-RU" dirty="0">
                <a:solidFill>
                  <a:schemeClr val="tx1"/>
                </a:solidFill>
              </a:rPr>
              <a:t> Распределение заявок должно происходить автоматически в начале рабочего дня, с учетом заданных ограничений и оптимизацией маршрутов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tx1"/>
                </a:solidFill>
              </a:rPr>
              <a:t>Оптимизация.</a:t>
            </a:r>
            <a:r>
              <a:rPr lang="ru-RU" dirty="0">
                <a:solidFill>
                  <a:schemeClr val="tx1"/>
                </a:solidFill>
              </a:rPr>
              <a:t> Все заявки должны распределяться по бригадам оптимальным образом, чтобы уменьшить общий пробег инженеров и увеличить общее количество обрабатываемых за день заявок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ru-RU" b="1" dirty="0">
                <a:solidFill>
                  <a:schemeClr val="tx1"/>
                </a:solidFill>
              </a:rPr>
              <a:t>Перепланирование.</a:t>
            </a:r>
            <a:r>
              <a:rPr lang="ru-RU" dirty="0">
                <a:solidFill>
                  <a:schemeClr val="tx1"/>
                </a:solidFill>
              </a:rPr>
              <a:t> Новые аварийные заявки должны быть встроены в маршрут и иметь высший приоритет.</a:t>
            </a:r>
          </a:p>
        </p:txBody>
      </p:sp>
      <p:sp>
        <p:nvSpPr>
          <p:cNvPr id="1957439397" name="Заголовок 13"/>
          <p:cNvSpPr>
            <a:spLocks noGrp="1"/>
          </p:cNvSpPr>
          <p:nvPr>
            <p:ph type="title"/>
          </p:nvPr>
        </p:nvSpPr>
        <p:spPr bwMode="auto">
          <a:xfrm>
            <a:off x="346075" y="312000"/>
            <a:ext cx="6102944" cy="630992"/>
          </a:xfrm>
        </p:spPr>
        <p:txBody>
          <a:bodyPr anchor="ctr" anchorCtr="0"/>
          <a:lstStyle/>
          <a:p>
            <a:pPr>
              <a:defRPr/>
            </a:pPr>
            <a:r>
              <a:rPr lang="ru-RU" sz="1800" dirty="0"/>
              <a:t>Проблема организации планирования</a:t>
            </a:r>
            <a:br>
              <a:rPr lang="ru-RU" sz="1800" dirty="0"/>
            </a:br>
            <a:r>
              <a:rPr lang="ru-RU" sz="1800" dirty="0"/>
              <a:t>выездных работ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11260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88215570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64311504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81444935" name="Скругленный прямоугольник 26"/>
          <p:cNvSpPr/>
          <p:nvPr/>
        </p:nvSpPr>
        <p:spPr bwMode="auto">
          <a:xfrm>
            <a:off x="34607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5132862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7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728356974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40439" y="2234638"/>
            <a:ext cx="2284071" cy="4236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Яндекс Маршрутизация · «</a:t>
            </a:r>
            <a:r>
              <a:rPr lang="ru-RU" dirty="0" err="1">
                <a:solidFill>
                  <a:srgbClr val="F92571"/>
                </a:solidFill>
              </a:rPr>
              <a:t>на_полке</a:t>
            </a:r>
            <a:r>
              <a:rPr lang="ru-RU" dirty="0">
                <a:solidFill>
                  <a:srgbClr val="F92571"/>
                </a:solidFill>
              </a:rPr>
              <a:t>»</a:t>
            </a:r>
          </a:p>
        </p:txBody>
      </p:sp>
      <p:sp>
        <p:nvSpPr>
          <p:cNvPr id="102303327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Российский сервис, который распределяет выезды сотрудников и строит маршруты с учётом адресов и времени визитов.</a:t>
            </a:r>
          </a:p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В компании планирование ускорилось более чем в 4 раза, а число визитов выросло на 10%.</a:t>
            </a:r>
          </a:p>
        </p:txBody>
      </p:sp>
      <p:sp>
        <p:nvSpPr>
          <p:cNvPr id="1364861697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8952" y="2266748"/>
            <a:ext cx="2337416" cy="403756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1С:ТОИР КОРП · «</a:t>
            </a:r>
            <a:r>
              <a:rPr lang="ru-RU" dirty="0" err="1">
                <a:solidFill>
                  <a:srgbClr val="F92571"/>
                </a:solidFill>
              </a:rPr>
              <a:t>Ацис</a:t>
            </a:r>
            <a:r>
              <a:rPr lang="ru-RU" dirty="0">
                <a:solidFill>
                  <a:srgbClr val="F92571"/>
                </a:solidFill>
              </a:rPr>
              <a:t> Технология»</a:t>
            </a:r>
          </a:p>
        </p:txBody>
      </p:sp>
      <p:sp>
        <p:nvSpPr>
          <p:cNvPr id="840682520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Российская система для учёта заявок, планирования обслуживания оборудования и работы выездных инженеров.</a:t>
            </a:r>
          </a:p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После внедрения обработка заказов ускорилась на 45%.</a:t>
            </a:r>
          </a:p>
        </p:txBody>
      </p:sp>
      <p:sp>
        <p:nvSpPr>
          <p:cNvPr id="1769023508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379657"/>
            <a:ext cx="2268537" cy="403913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F92571"/>
                </a:solidFill>
              </a:rPr>
              <a:t>Dynamics 365 Field Service · Ziegler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19110492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Платформа для управления сервисными заявками: помогает назначать техников, составлять расписание и планировать выезды.</a:t>
            </a:r>
          </a:p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Производительность техников в </a:t>
            </a:r>
            <a:r>
              <a:rPr lang="ru-RU" dirty="0" err="1">
                <a:solidFill>
                  <a:schemeClr val="tx1"/>
                </a:solidFill>
              </a:rPr>
              <a:t>Ziegler</a:t>
            </a:r>
            <a:r>
              <a:rPr lang="ru-RU" dirty="0">
                <a:solidFill>
                  <a:schemeClr val="tx1"/>
                </a:solidFill>
              </a:rPr>
              <a:t> выросла на 30%.</a:t>
            </a:r>
          </a:p>
        </p:txBody>
      </p:sp>
      <p:sp>
        <p:nvSpPr>
          <p:cNvPr id="1621255393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F92571"/>
                </a:solidFill>
              </a:rPr>
              <a:t>ServiceNow FSM · Xerox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925571275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Система, объединяющая заявки, диспетчеризацию и работу специалистов на выезде.</a:t>
            </a:r>
          </a:p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В Xerox каждый техник получил на 53 минуты больше времени для работы у клиентов в день.</a:t>
            </a:r>
          </a:p>
        </p:txBody>
      </p:sp>
      <p:sp>
        <p:nvSpPr>
          <p:cNvPr id="553633505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709633004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732712452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635597112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7" name="Скругленный прямоугольник 1">
            <a:extLst>
              <a:ext uri="{FF2B5EF4-FFF2-40B4-BE49-F238E27FC236}">
                <a16:creationId xmlns:a16="http://schemas.microsoft.com/office/drawing/2014/main" id="{77CC97FC-145A-9E36-4B51-2935A8EB0DEA}"/>
              </a:ext>
            </a:extLst>
          </p:cNvPr>
          <p:cNvSpPr/>
          <p:nvPr/>
        </p:nvSpPr>
        <p:spPr bwMode="auto">
          <a:xfrm>
            <a:off x="346075" y="324562"/>
            <a:ext cx="610294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" name="Заголовок 13">
            <a:extLst>
              <a:ext uri="{FF2B5EF4-FFF2-40B4-BE49-F238E27FC236}">
                <a16:creationId xmlns:a16="http://schemas.microsoft.com/office/drawing/2014/main" id="{56B446C5-04CC-A50B-F06B-0064F61FC141}"/>
              </a:ext>
            </a:extLst>
          </p:cNvPr>
          <p:cNvSpPr txBox="1">
            <a:spLocks/>
          </p:cNvSpPr>
          <p:nvPr/>
        </p:nvSpPr>
        <p:spPr bwMode="auto">
          <a:xfrm>
            <a:off x="346075" y="312000"/>
            <a:ext cx="6102944" cy="63099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>
              <a:defRPr/>
            </a:pPr>
            <a:r>
              <a:rPr lang="ru-RU" sz="1800" dirty="0"/>
              <a:t>Существующие решения в других компаниях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CCF0F56F-B2B8-B9D6-2BF1-3FA42D69768A}"/>
              </a:ext>
            </a:extLst>
          </p:cNvPr>
          <p:cNvSpPr/>
          <p:nvPr/>
        </p:nvSpPr>
        <p:spPr bwMode="auto">
          <a:xfrm>
            <a:off x="346074" y="324562"/>
            <a:ext cx="6102944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72598994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8</a:t>
            </a:fld>
            <a:endParaRPr lang="ru-RU">
              <a:solidFill>
                <a:schemeClr val="accent5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46E200C-DB92-4241-9B53-F3158508738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53" t="-457" r="20278" b="457"/>
          <a:stretch/>
        </p:blipFill>
        <p:spPr bwMode="auto">
          <a:xfrm>
            <a:off x="4649441" y="1081209"/>
            <a:ext cx="6764008" cy="5640273"/>
          </a:xfrm>
          <a:prstGeom prst="roundRect">
            <a:avLst>
              <a:gd name="adj" fmla="val 6127"/>
            </a:avLst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7AEE033-04C4-46A8-B924-BE61B2DC2F7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21" t="7" r="21329" b="32441"/>
          <a:stretch/>
        </p:blipFill>
        <p:spPr bwMode="auto">
          <a:xfrm>
            <a:off x="620205" y="4519564"/>
            <a:ext cx="3701610" cy="2201918"/>
          </a:xfrm>
          <a:prstGeom prst="roundRect">
            <a:avLst>
              <a:gd name="adj" fmla="val 11783"/>
            </a:avLst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CC1AE34-AB40-4B27-AF30-999F9B9232D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2" r="398" b="663"/>
          <a:stretch/>
        </p:blipFill>
        <p:spPr bwMode="auto">
          <a:xfrm>
            <a:off x="551538" y="1081209"/>
            <a:ext cx="3770219" cy="3315428"/>
          </a:xfrm>
          <a:prstGeom prst="roundRect">
            <a:avLst>
              <a:gd name="adj" fmla="val 7254"/>
            </a:avLst>
          </a:prstGeom>
        </p:spPr>
      </p:pic>
      <p:sp>
        <p:nvSpPr>
          <p:cNvPr id="1196856292" name="Заголовок 13"/>
          <p:cNvSpPr>
            <a:spLocks noGrp="1"/>
          </p:cNvSpPr>
          <p:nvPr>
            <p:ph type="title"/>
          </p:nvPr>
        </p:nvSpPr>
        <p:spPr bwMode="auto">
          <a:xfrm>
            <a:off x="346075" y="324562"/>
            <a:ext cx="6102944" cy="620918"/>
          </a:xfrm>
        </p:spPr>
        <p:txBody>
          <a:bodyPr anchor="ctr" anchorCtr="0"/>
          <a:lstStyle/>
          <a:p>
            <a:pPr>
              <a:defRPr/>
            </a:pPr>
            <a:r>
              <a:rPr lang="ru-RU" sz="1800" dirty="0"/>
              <a:t>Наше решение для диспетчера</a:t>
            </a:r>
          </a:p>
        </p:txBody>
      </p:sp>
    </p:spTree>
    <p:extLst>
      <p:ext uri="{BB962C8B-B14F-4D97-AF65-F5344CB8AC3E}">
        <p14:creationId xmlns:p14="http://schemas.microsoft.com/office/powerpoint/2010/main" val="4214240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11260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88215570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64311504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81444935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5132862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9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728356974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4236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Время визита</a:t>
            </a:r>
          </a:p>
        </p:txBody>
      </p:sp>
      <p:sp>
        <p:nvSpPr>
          <p:cNvPr id="102303327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Работа начинается в согласованном с клиентом окне и завершается до конца смены. План учитывает дорогу, ожидание и длительность работы.</a:t>
            </a:r>
          </a:p>
        </p:txBody>
      </p:sp>
      <p:sp>
        <p:nvSpPr>
          <p:cNvPr id="1364861697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373557"/>
            <a:ext cx="2337416" cy="403756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Приоритет заявок</a:t>
            </a:r>
          </a:p>
        </p:txBody>
      </p:sp>
      <p:sp>
        <p:nvSpPr>
          <p:cNvPr id="840682520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Сначала планируются аварии, затем подключения, ремонты и дозаказы. Для аварий диспетчер может сравнить вариант с допустимым опозданием.</a:t>
            </a:r>
          </a:p>
        </p:txBody>
      </p:sp>
      <p:sp>
        <p:nvSpPr>
          <p:cNvPr id="1769023508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379657"/>
            <a:ext cx="2268537" cy="403913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Возможности бригады</a:t>
            </a:r>
          </a:p>
        </p:txBody>
      </p:sp>
      <p:sp>
        <p:nvSpPr>
          <p:cNvPr id="19110492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Заявка назначается только при наличии нужных навыков, транспорта и оборудования. Учитывается занятость инженера в течение дня.</a:t>
            </a:r>
          </a:p>
        </p:txBody>
      </p:sp>
      <p:sp>
        <p:nvSpPr>
          <p:cNvPr id="1621255393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Пересчёт плана</a:t>
            </a:r>
          </a:p>
        </p:txBody>
      </p:sp>
      <p:sp>
        <p:nvSpPr>
          <p:cNvPr id="925571275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Начатые и выполненные работы сохраняются. Новая обычная заявка вставляется в свободное время; при аварии может измениться оставшийся маршрут.</a:t>
            </a:r>
          </a:p>
        </p:txBody>
      </p:sp>
      <p:sp>
        <p:nvSpPr>
          <p:cNvPr id="553633505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709633004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732712452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635597112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7" name="Скругленный прямоугольник 1">
            <a:extLst>
              <a:ext uri="{FF2B5EF4-FFF2-40B4-BE49-F238E27FC236}">
                <a16:creationId xmlns:a16="http://schemas.microsoft.com/office/drawing/2014/main" id="{77CC97FC-145A-9E36-4B51-2935A8EB0DEA}"/>
              </a:ext>
            </a:extLst>
          </p:cNvPr>
          <p:cNvSpPr/>
          <p:nvPr/>
        </p:nvSpPr>
        <p:spPr bwMode="auto">
          <a:xfrm>
            <a:off x="346075" y="324562"/>
            <a:ext cx="610294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" name="Заголовок 13">
            <a:extLst>
              <a:ext uri="{FF2B5EF4-FFF2-40B4-BE49-F238E27FC236}">
                <a16:creationId xmlns:a16="http://schemas.microsoft.com/office/drawing/2014/main" id="{56B446C5-04CC-A50B-F06B-0064F61FC141}"/>
              </a:ext>
            </a:extLst>
          </p:cNvPr>
          <p:cNvSpPr txBox="1">
            <a:spLocks/>
          </p:cNvSpPr>
          <p:nvPr/>
        </p:nvSpPr>
        <p:spPr bwMode="auto">
          <a:xfrm>
            <a:off x="346075" y="312000"/>
            <a:ext cx="6102944" cy="63099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>
              <a:defRPr/>
            </a:pPr>
            <a:r>
              <a:rPr lang="ru-RU" sz="1800" dirty="0"/>
              <a:t>Ограничения для плана</a:t>
            </a:r>
          </a:p>
        </p:txBody>
      </p:sp>
    </p:spTree>
    <p:extLst>
      <p:ext uri="{BB962C8B-B14F-4D97-AF65-F5344CB8AC3E}">
        <p14:creationId xmlns:p14="http://schemas.microsoft.com/office/powerpoint/2010/main" val="2745930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1">
            <a:extLst>
              <a:ext uri="{FF2B5EF4-FFF2-40B4-BE49-F238E27FC236}">
                <a16:creationId xmlns:a16="http://schemas.microsoft.com/office/drawing/2014/main" id="{0F3556B0-4110-CBCA-47FF-4F87A4A238C0}"/>
              </a:ext>
            </a:extLst>
          </p:cNvPr>
          <p:cNvSpPr/>
          <p:nvPr/>
        </p:nvSpPr>
        <p:spPr bwMode="auto">
          <a:xfrm>
            <a:off x="346075" y="324562"/>
            <a:ext cx="610294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" name="Скругленный прямоугольник 8">
            <a:extLst>
              <a:ext uri="{FF2B5EF4-FFF2-40B4-BE49-F238E27FC236}">
                <a16:creationId xmlns:a16="http://schemas.microsoft.com/office/drawing/2014/main" id="{7822B9B8-98FF-0FE7-01DF-F5E96FE39317}"/>
              </a:ext>
            </a:extLst>
          </p:cNvPr>
          <p:cNvSpPr/>
          <p:nvPr/>
        </p:nvSpPr>
        <p:spPr bwMode="auto">
          <a:xfrm>
            <a:off x="622040" y="1991233"/>
            <a:ext cx="3527182" cy="336328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17194336" name="Номер слайда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10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458568974" name="Заголовок 2"/>
          <p:cNvSpPr>
            <a:spLocks noGrp="1"/>
          </p:cNvSpPr>
          <p:nvPr>
            <p:ph type="title"/>
          </p:nvPr>
        </p:nvSpPr>
        <p:spPr bwMode="auto">
          <a:xfrm>
            <a:off x="346075" y="324563"/>
            <a:ext cx="6102943" cy="654380"/>
          </a:xfrm>
        </p:spPr>
        <p:txBody>
          <a:bodyPr anchor="ctr" anchorCtr="0"/>
          <a:lstStyle/>
          <a:p>
            <a:pPr>
              <a:defRPr/>
            </a:pPr>
            <a:r>
              <a:rPr lang="ru-RU" sz="1800" dirty="0">
                <a:solidFill>
                  <a:schemeClr val="bg1"/>
                </a:solidFill>
              </a:rPr>
              <a:t>Рабочий день диспетчера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8FD3BC5-B917-41DB-AC2A-CF43D85785A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4"/>
          <a:srcRect l="-273" r="-392" b="36"/>
          <a:stretch/>
        </p:blipFill>
        <p:spPr bwMode="auto">
          <a:xfrm>
            <a:off x="4682628" y="1186962"/>
            <a:ext cx="7308616" cy="5169395"/>
          </a:xfrm>
        </p:spPr>
      </p:pic>
      <p:sp>
        <p:nvSpPr>
          <p:cNvPr id="1933660009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640656" y="2024694"/>
            <a:ext cx="3508565" cy="3329822"/>
          </a:xfrm>
        </p:spPr>
        <p:txBody>
          <a:bodyPr/>
          <a:lstStyle/>
          <a:p>
            <a:pPr marL="342900" indent="-342900">
              <a:buFont typeface="+mj-lt"/>
              <a:buAutoNum type="arabicPeriod"/>
              <a:defRPr/>
            </a:pPr>
            <a:r>
              <a:rPr lang="ru-RU" b="1" dirty="0">
                <a:solidFill>
                  <a:schemeClr val="tx1"/>
                </a:solidFill>
              </a:rPr>
              <a:t>Подготовить день. </a:t>
            </a:r>
            <a:r>
              <a:rPr lang="ru-RU" dirty="0">
                <a:solidFill>
                  <a:schemeClr val="tx1"/>
                </a:solidFill>
              </a:rPr>
              <a:t>Выбрать готовый набор или загрузить заявки и состав бригад, уточнить адреса.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ru-RU" b="1" dirty="0">
                <a:solidFill>
                  <a:schemeClr val="tx1"/>
                </a:solidFill>
              </a:rPr>
              <a:t>Принять первый план. </a:t>
            </a:r>
            <a:r>
              <a:rPr lang="ru-RU" dirty="0">
                <a:solidFill>
                  <a:schemeClr val="tx1"/>
                </a:solidFill>
              </a:rPr>
              <a:t>Сравнить варианты по назначениям, пробегу и расписанию, затем выбрать рабочий план. 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ru-RU" b="1" dirty="0">
                <a:solidFill>
                  <a:schemeClr val="tx1"/>
                </a:solidFill>
              </a:rPr>
              <a:t>Управлять изменениями. </a:t>
            </a:r>
            <a:r>
              <a:rPr lang="ru-RU" dirty="0">
                <a:solidFill>
                  <a:schemeClr val="tx1"/>
                </a:solidFill>
              </a:rPr>
              <a:t>Вносить новые заявки, отмены и фактическое время работ; при необходимости пересчитать маршруты и принять обновлённый план.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383C95F-A5A2-44A5-A5EF-14C4F452C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8214" y="1410622"/>
            <a:ext cx="5514187" cy="4764466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4252030-2CD8-A424-BA0D-604FFD593E44}"/>
              </a:ext>
            </a:extLst>
          </p:cNvPr>
          <p:cNvSpPr/>
          <p:nvPr/>
        </p:nvSpPr>
        <p:spPr bwMode="auto">
          <a:xfrm>
            <a:off x="346075" y="324562"/>
            <a:ext cx="610294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46767918" name="Скругленный прямоугольник 8"/>
          <p:cNvSpPr/>
          <p:nvPr/>
        </p:nvSpPr>
        <p:spPr bwMode="auto">
          <a:xfrm>
            <a:off x="66339" y="1550469"/>
            <a:ext cx="4283611" cy="4338026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17194336" name="Номер слайда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458568974" name="Заголовок 2"/>
          <p:cNvSpPr>
            <a:spLocks noGrp="1"/>
          </p:cNvSpPr>
          <p:nvPr>
            <p:ph type="title"/>
          </p:nvPr>
        </p:nvSpPr>
        <p:spPr bwMode="auto">
          <a:xfrm>
            <a:off x="346075" y="324562"/>
            <a:ext cx="6102944" cy="588251"/>
          </a:xfrm>
        </p:spPr>
        <p:txBody>
          <a:bodyPr anchor="ctr" anchorCtr="0">
            <a:normAutofit fontScale="90000"/>
          </a:bodyPr>
          <a:lstStyle/>
          <a:p>
            <a:pPr>
              <a:defRPr/>
            </a:pPr>
            <a:r>
              <a:rPr lang="ru-RU" dirty="0">
                <a:solidFill>
                  <a:schemeClr val="bg1"/>
                </a:solidFill>
              </a:rPr>
              <a:t>Что происходит при поступлении аварии?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22BD45-7B21-42DA-9D0C-117724D636B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5"/>
          <a:srcRect l="-136" r="-1" b="91"/>
          <a:stretch/>
        </p:blipFill>
        <p:spPr bwMode="auto">
          <a:xfrm>
            <a:off x="9892401" y="1410621"/>
            <a:ext cx="2126889" cy="4764466"/>
          </a:xfrm>
        </p:spPr>
      </p:pic>
      <p:sp>
        <p:nvSpPr>
          <p:cNvPr id="1933660009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261871" y="1843668"/>
            <a:ext cx="3920811" cy="3947531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ru-RU" sz="1600" dirty="0">
                <a:solidFill>
                  <a:schemeClr val="tx1"/>
                </a:solidFill>
              </a:rPr>
              <a:t>Диспетчер добавляет аварийную заявку: адрес, окно визита и требования к бригаде.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ru-RU" sz="1600" dirty="0">
                <a:solidFill>
                  <a:schemeClr val="tx1"/>
                </a:solidFill>
              </a:rPr>
              <a:t>По команде диспетчера сервис пересчитывает оставшуюся часть дня. Начатые и выполненные работы сохраняются.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ru-RU" sz="1600" dirty="0">
                <a:solidFill>
                  <a:schemeClr val="tx1"/>
                </a:solidFill>
              </a:rPr>
              <a:t>Диспетчер сравнивает варианты: работающим составом, с допуском опоздания на аварию и с привлечением резерва. Изменения видны на карте и в расписании; диспетчер принимает выбранный план.</a:t>
            </a:r>
          </a:p>
        </p:txBody>
      </p:sp>
    </p:spTree>
    <p:extLst>
      <p:ext uri="{BB962C8B-B14F-4D97-AF65-F5344CB8AC3E}">
        <p14:creationId xmlns:p14="http://schemas.microsoft.com/office/powerpoint/2010/main" val="1655631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68687" name="Заголовок 5"/>
          <p:cNvSpPr>
            <a:spLocks noGrp="1"/>
          </p:cNvSpPr>
          <p:nvPr>
            <p:ph type="title"/>
          </p:nvPr>
        </p:nvSpPr>
        <p:spPr bwMode="auto">
          <a:xfrm>
            <a:off x="533490" y="370426"/>
            <a:ext cx="5562510" cy="442374"/>
          </a:xfrm>
        </p:spPr>
        <p:txBody>
          <a:bodyPr/>
          <a:lstStyle/>
          <a:p>
            <a:pPr>
              <a:defRPr/>
            </a:pPr>
            <a:r>
              <a:rPr lang="ru-RU" sz="2000" dirty="0">
                <a:solidFill>
                  <a:schemeClr val="accent5"/>
                </a:solidFill>
              </a:rPr>
              <a:t>Стек технологий</a:t>
            </a:r>
          </a:p>
        </p:txBody>
      </p:sp>
      <p:sp>
        <p:nvSpPr>
          <p:cNvPr id="1484418242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521133" y="1695025"/>
            <a:ext cx="11335904" cy="71258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</a:rPr>
              <a:t>Backend: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ru-RU" sz="1600" dirty="0" err="1">
                <a:solidFill>
                  <a:schemeClr val="tx1"/>
                </a:solidFill>
              </a:rPr>
              <a:t>Backend</a:t>
            </a:r>
            <a:r>
              <a:rPr lang="ru-RU" sz="1600" dirty="0">
                <a:solidFill>
                  <a:schemeClr val="tx1"/>
                </a:solidFill>
              </a:rPr>
              <a:t>: Go 1.27, HTTP API, </a:t>
            </a:r>
            <a:r>
              <a:rPr lang="ru-RU" sz="1600" dirty="0" err="1">
                <a:solidFill>
                  <a:schemeClr val="tx1"/>
                </a:solidFill>
              </a:rPr>
              <a:t>PostgreSQL</a:t>
            </a:r>
            <a:r>
              <a:rPr lang="ru-RU" sz="1600" dirty="0">
                <a:solidFill>
                  <a:schemeClr val="tx1"/>
                </a:solidFill>
              </a:rPr>
              <a:t> 17 для хранения заявок, планов и истории событий</a:t>
            </a:r>
          </a:p>
        </p:txBody>
      </p:sp>
      <p:sp>
        <p:nvSpPr>
          <p:cNvPr id="2022034793" name="Текст 8"/>
          <p:cNvSpPr>
            <a:spLocks noGrp="1"/>
          </p:cNvSpPr>
          <p:nvPr>
            <p:ph type="body" sz="quarter" idx="16"/>
          </p:nvPr>
        </p:nvSpPr>
        <p:spPr bwMode="auto">
          <a:xfrm>
            <a:off x="521133" y="2552035"/>
            <a:ext cx="11335904" cy="71258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</a:rPr>
              <a:t>Frontend: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ru-RU" sz="1600" dirty="0" err="1">
                <a:solidFill>
                  <a:schemeClr val="tx1"/>
                </a:solidFill>
              </a:rPr>
              <a:t>Frontend</a:t>
            </a:r>
            <a:r>
              <a:rPr lang="ru-RU" sz="1600" dirty="0">
                <a:solidFill>
                  <a:schemeClr val="tx1"/>
                </a:solidFill>
              </a:rPr>
              <a:t>: </a:t>
            </a:r>
            <a:r>
              <a:rPr lang="ru-RU" sz="1600" dirty="0" err="1">
                <a:solidFill>
                  <a:schemeClr val="tx1"/>
                </a:solidFill>
              </a:rPr>
              <a:t>React</a:t>
            </a:r>
            <a:r>
              <a:rPr lang="ru-RU" sz="1600" dirty="0">
                <a:solidFill>
                  <a:schemeClr val="tx1"/>
                </a:solidFill>
              </a:rPr>
              <a:t> 19, </a:t>
            </a:r>
            <a:r>
              <a:rPr lang="ru-RU" sz="1600" dirty="0" err="1">
                <a:solidFill>
                  <a:schemeClr val="tx1"/>
                </a:solidFill>
              </a:rPr>
              <a:t>TypeScript</a:t>
            </a:r>
            <a:r>
              <a:rPr lang="ru-RU" sz="1600" dirty="0">
                <a:solidFill>
                  <a:schemeClr val="tx1"/>
                </a:solidFill>
              </a:rPr>
              <a:t>, </a:t>
            </a:r>
            <a:r>
              <a:rPr lang="ru-RU" sz="1600" dirty="0" err="1">
                <a:solidFill>
                  <a:schemeClr val="tx1"/>
                </a:solidFill>
              </a:rPr>
              <a:t>Vite</a:t>
            </a:r>
            <a:r>
              <a:rPr lang="ru-RU" sz="1600" dirty="0">
                <a:solidFill>
                  <a:schemeClr val="tx1"/>
                </a:solidFill>
              </a:rPr>
              <a:t> 8 – рабочее место диспетчера.</a:t>
            </a:r>
          </a:p>
        </p:txBody>
      </p:sp>
      <p:sp>
        <p:nvSpPr>
          <p:cNvPr id="131907780" name="Текст 9"/>
          <p:cNvSpPr>
            <a:spLocks noGrp="1"/>
          </p:cNvSpPr>
          <p:nvPr>
            <p:ph type="body" sz="quarter" idx="17"/>
          </p:nvPr>
        </p:nvSpPr>
        <p:spPr bwMode="auto">
          <a:xfrm>
            <a:off x="521132" y="3409044"/>
            <a:ext cx="11335903" cy="71258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600" b="1" dirty="0">
                <a:solidFill>
                  <a:schemeClr val="tx1"/>
                </a:solidFill>
              </a:rPr>
              <a:t>Алгоритм оптимизации</a:t>
            </a:r>
            <a:r>
              <a:rPr lang="en-US" sz="1600" b="1" dirty="0">
                <a:solidFill>
                  <a:schemeClr val="tx1"/>
                </a:solidFill>
              </a:rPr>
              <a:t>: </a:t>
            </a:r>
            <a:r>
              <a:rPr lang="ru-RU" sz="1600" dirty="0">
                <a:solidFill>
                  <a:schemeClr val="tx1"/>
                </a:solidFill>
              </a:rPr>
              <a:t>Алгоритм оптимизации: VROOM 1.15 и дополнительный поиск на Go; результат проверяется по ограничениям задачи</a:t>
            </a:r>
            <a:endParaRPr lang="ru-RU" sz="1600" b="1" dirty="0">
              <a:solidFill>
                <a:schemeClr val="tx1"/>
              </a:solidFill>
            </a:endParaRPr>
          </a:p>
        </p:txBody>
      </p:sp>
      <p:sp>
        <p:nvSpPr>
          <p:cNvPr id="1043334351" name="Текст 10"/>
          <p:cNvSpPr>
            <a:spLocks noGrp="1"/>
          </p:cNvSpPr>
          <p:nvPr>
            <p:ph type="body" sz="quarter" idx="18"/>
          </p:nvPr>
        </p:nvSpPr>
        <p:spPr bwMode="auto">
          <a:xfrm>
            <a:off x="521133" y="4266053"/>
            <a:ext cx="11335902" cy="712587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ru-RU" sz="1600" b="1" dirty="0">
                <a:solidFill>
                  <a:schemeClr val="tx1"/>
                </a:solidFill>
              </a:rPr>
              <a:t>Карта</a:t>
            </a:r>
            <a:r>
              <a:rPr lang="en-US" sz="1600" b="1" dirty="0">
                <a:solidFill>
                  <a:schemeClr val="tx1"/>
                </a:solidFill>
              </a:rPr>
              <a:t>: </a:t>
            </a:r>
            <a:r>
              <a:rPr lang="ru-RU" sz="1600" dirty="0">
                <a:solidFill>
                  <a:schemeClr val="tx1"/>
                </a:solidFill>
              </a:rPr>
              <a:t>Карта: </a:t>
            </a:r>
            <a:r>
              <a:rPr lang="ru-RU" sz="1600" dirty="0" err="1">
                <a:solidFill>
                  <a:schemeClr val="tx1"/>
                </a:solidFill>
              </a:rPr>
              <a:t>MapLibre</a:t>
            </a:r>
            <a:r>
              <a:rPr lang="ru-RU" sz="1600" dirty="0">
                <a:solidFill>
                  <a:schemeClr val="tx1"/>
                </a:solidFill>
              </a:rPr>
              <a:t> GL и </a:t>
            </a:r>
            <a:r>
              <a:rPr lang="ru-RU" sz="1600" dirty="0" err="1">
                <a:solidFill>
                  <a:schemeClr val="tx1"/>
                </a:solidFill>
              </a:rPr>
              <a:t>OpenFreeMap</a:t>
            </a:r>
            <a:r>
              <a:rPr lang="ru-RU" sz="1600" dirty="0">
                <a:solidFill>
                  <a:schemeClr val="tx1"/>
                </a:solidFill>
              </a:rPr>
              <a:t>; </a:t>
            </a:r>
            <a:r>
              <a:rPr lang="ru-RU" sz="1600" dirty="0" err="1">
                <a:solidFill>
                  <a:schemeClr val="tx1"/>
                </a:solidFill>
              </a:rPr>
              <a:t>Photon</a:t>
            </a:r>
            <a:r>
              <a:rPr lang="ru-RU" sz="1600" dirty="0">
                <a:solidFill>
                  <a:schemeClr val="tx1"/>
                </a:solidFill>
              </a:rPr>
              <a:t> ищет адреса, OSRM рассчитывает путь по дорогам для автомобиля и пешей </a:t>
            </a:r>
            <a:r>
              <a:rPr lang="ru-RU" sz="1600" dirty="0" err="1">
                <a:solidFill>
                  <a:schemeClr val="tx1"/>
                </a:solidFill>
              </a:rPr>
              <a:t>бригады.В</a:t>
            </a:r>
            <a:r>
              <a:rPr lang="ru-RU" sz="1600" dirty="0">
                <a:solidFill>
                  <a:schemeClr val="tx1"/>
                </a:solidFill>
              </a:rPr>
              <a:t> нижнем блоке: «Расчёт выполняется на сервере. Диспетчер сравнивает варианты на карте и в расписании, затем принимает рабочий план».</a:t>
            </a:r>
            <a:endParaRPr lang="ru-RU" sz="1600" b="1" dirty="0">
              <a:solidFill>
                <a:schemeClr val="tx1"/>
              </a:solidFill>
            </a:endParaRPr>
          </a:p>
        </p:txBody>
      </p:sp>
      <p:sp>
        <p:nvSpPr>
          <p:cNvPr id="1785097449" name="Номер слайда 2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12</a:t>
            </a:fld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941653181" name="Прямая соединительная линия 1"/>
          <p:cNvCxnSpPr/>
          <p:nvPr/>
        </p:nvCxnSpPr>
        <p:spPr bwMode="auto"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55020351" name="Прямая соединительная линия 3"/>
          <p:cNvCxnSpPr/>
          <p:nvPr/>
        </p:nvCxnSpPr>
        <p:spPr bwMode="auto"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98580274" name="Прямая соединительная линия 12"/>
          <p:cNvCxnSpPr/>
          <p:nvPr/>
        </p:nvCxnSpPr>
        <p:spPr bwMode="auto"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98046321" name="Прямая соединительная линия 13"/>
          <p:cNvCxnSpPr/>
          <p:nvPr/>
        </p:nvCxnSpPr>
        <p:spPr bwMode="auto"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6696805" name="Прямая соединительная линия 14"/>
          <p:cNvCxnSpPr/>
          <p:nvPr/>
        </p:nvCxnSpPr>
        <p:spPr bwMode="auto"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980009" name="Номер слайда 1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13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45791128" name="Текст 1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 dirty="0" err="1">
                <a:solidFill>
                  <a:schemeClr val="accent5"/>
                </a:solidFill>
              </a:rPr>
              <a:t>G</a:t>
            </a:r>
            <a:r>
              <a:rPr lang="en-US" b="0" dirty="0">
                <a:solidFill>
                  <a:schemeClr val="accent5"/>
                </a:solidFill>
              </a:rPr>
              <a:t>o-1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75425605" name="Текст 2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814077"/>
            <a:ext cx="2526079" cy="112068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Планировщик: назначения, порядок визитов, ограничения и причины неназначения</a:t>
            </a:r>
          </a:p>
        </p:txBody>
      </p:sp>
      <p:sp>
        <p:nvSpPr>
          <p:cNvPr id="567808411" name="Текст 3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en-US" b="0" dirty="0">
                <a:solidFill>
                  <a:schemeClr val="accent5"/>
                </a:solidFill>
              </a:rPr>
              <a:t>Go-2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063055699" name="Текст 4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814077"/>
            <a:ext cx="2526079" cy="1120685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Данные и API: импорт и проверка заявок и бригад, </a:t>
            </a:r>
            <a:r>
              <a:rPr lang="ru-RU" dirty="0" err="1">
                <a:solidFill>
                  <a:schemeClr val="tx1"/>
                </a:solidFill>
              </a:rPr>
              <a:t>PostgreSQL</a:t>
            </a:r>
            <a:r>
              <a:rPr lang="ru-RU" dirty="0">
                <a:solidFill>
                  <a:schemeClr val="tx1"/>
                </a:solidFill>
              </a:rPr>
              <a:t>, HTTP AP</a:t>
            </a:r>
            <a:r>
              <a:rPr lang="en-US" dirty="0">
                <a:solidFill>
                  <a:schemeClr val="tx1"/>
                </a:solidFill>
              </a:rPr>
              <a:t>I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01354303" name="Текст 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en-US" b="0" dirty="0">
                <a:solidFill>
                  <a:schemeClr val="accent5"/>
                </a:solidFill>
              </a:rPr>
              <a:t>Frontend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321846474" name="Текст 6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814077"/>
            <a:ext cx="2526079" cy="1120685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Интерфейс диспетчера: карта, расписание, карточки заявок и сравнение планов</a:t>
            </a:r>
          </a:p>
        </p:txBody>
      </p:sp>
      <p:sp>
        <p:nvSpPr>
          <p:cNvPr id="21704065" name="Текст 7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en-US" b="0" dirty="0">
                <a:solidFill>
                  <a:schemeClr val="accent5"/>
                </a:solidFill>
              </a:rPr>
              <a:t>Go-3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852980671" name="Текст 8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5181340"/>
            <a:ext cx="2526079" cy="1120685"/>
          </a:xfrm>
        </p:spPr>
        <p:txBody>
          <a:bodyPr/>
          <a:lstStyle/>
          <a:p>
            <a:pPr>
              <a:defRPr/>
            </a:pPr>
            <a:r>
              <a:rPr lang="ru-RU" dirty="0" err="1">
                <a:solidFill>
                  <a:schemeClr val="tx1"/>
                </a:solidFill>
              </a:rPr>
              <a:t>Геоданные</a:t>
            </a:r>
            <a:r>
              <a:rPr lang="ru-RU" dirty="0">
                <a:solidFill>
                  <a:schemeClr val="tx1"/>
                </a:solidFill>
              </a:rPr>
              <a:t>: поиск координат, дорожное время и расстояния, геометрия маршрутов</a:t>
            </a:r>
          </a:p>
        </p:txBody>
      </p:sp>
      <p:sp>
        <p:nvSpPr>
          <p:cNvPr id="58284361" name="Текст 9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en-US" b="0" dirty="0">
                <a:solidFill>
                  <a:schemeClr val="accent5"/>
                </a:solidFill>
              </a:rPr>
              <a:t>Go-4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837104852" name="Текст 10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5181340"/>
            <a:ext cx="2526079" cy="1120685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Управление планом: варианты расчёта, события рабочего дня и перепланирование</a:t>
            </a:r>
          </a:p>
        </p:txBody>
      </p:sp>
      <p:cxnSp>
        <p:nvCxnSpPr>
          <p:cNvPr id="1731368653" name="Прямая соединительная линия 33"/>
          <p:cNvCxnSpPr/>
          <p:nvPr/>
        </p:nvCxnSpPr>
        <p:spPr bwMode="auto"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670215" name="Прямая соединительная линия 34"/>
          <p:cNvCxnSpPr/>
          <p:nvPr/>
        </p:nvCxnSpPr>
        <p:spPr bwMode="auto"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144373" name="Прямая соединительная линия 35"/>
          <p:cNvCxnSpPr/>
          <p:nvPr/>
        </p:nvCxnSpPr>
        <p:spPr bwMode="auto"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4664500" name="Прямая соединительная линия 36"/>
          <p:cNvCxnSpPr/>
          <p:nvPr/>
        </p:nvCxnSpPr>
        <p:spPr bwMode="auto"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5829465" name="Прямая соединительная линия 37"/>
          <p:cNvCxnSpPr/>
          <p:nvPr/>
        </p:nvCxnSpPr>
        <p:spPr bwMode="auto"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336023" name="Прямая соединительная линия 38"/>
          <p:cNvCxnSpPr/>
          <p:nvPr/>
        </p:nvCxnSpPr>
        <p:spPr bwMode="auto"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998851" name="Прямая соединительная линия 39"/>
          <p:cNvCxnSpPr/>
          <p:nvPr/>
        </p:nvCxnSpPr>
        <p:spPr bwMode="auto"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7937511" name="Прямая соединительная линия 40"/>
          <p:cNvCxnSpPr/>
          <p:nvPr/>
        </p:nvCxnSpPr>
        <p:spPr bwMode="auto"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810320" name="Прямая соединительная линия 41"/>
          <p:cNvCxnSpPr/>
          <p:nvPr/>
        </p:nvCxnSpPr>
        <p:spPr bwMode="auto"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751272" name="Скругленный прямоугольник 42"/>
          <p:cNvSpPr/>
          <p:nvPr/>
        </p:nvSpPr>
        <p:spPr bwMode="auto"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812859897" name="Скругленный прямоугольник 43"/>
          <p:cNvSpPr/>
          <p:nvPr/>
        </p:nvSpPr>
        <p:spPr bwMode="auto"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08934526" name="Скругленный прямоугольник 44"/>
          <p:cNvSpPr/>
          <p:nvPr/>
        </p:nvSpPr>
        <p:spPr bwMode="auto"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741896490" name="Скругленный прямоугольник 52"/>
          <p:cNvSpPr/>
          <p:nvPr/>
        </p:nvSpPr>
        <p:spPr bwMode="auto"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007682587" name="Скругленный прямоугольник 53"/>
          <p:cNvSpPr/>
          <p:nvPr/>
        </p:nvSpPr>
        <p:spPr bwMode="auto"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473606708" name="Скругленный прямоугольник 13"/>
          <p:cNvSpPr/>
          <p:nvPr/>
        </p:nvSpPr>
        <p:spPr bwMode="auto"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586179979" name="Скругленный прямоугольник 15"/>
          <p:cNvSpPr/>
          <p:nvPr/>
        </p:nvSpPr>
        <p:spPr bwMode="auto"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2105368717" name="Скругленный прямоугольник 16"/>
          <p:cNvSpPr/>
          <p:nvPr/>
        </p:nvSpPr>
        <p:spPr bwMode="auto"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293685711" name="Скругленный прямоугольник 17"/>
          <p:cNvSpPr/>
          <p:nvPr/>
        </p:nvSpPr>
        <p:spPr bwMode="auto"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624313899" name="Скругленный прямоугольник 18"/>
          <p:cNvSpPr/>
          <p:nvPr/>
        </p:nvSpPr>
        <p:spPr bwMode="auto"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CBF28078-8768-7A3E-896F-4A22A5FF1732}"/>
              </a:ext>
            </a:extLst>
          </p:cNvPr>
          <p:cNvSpPr/>
          <p:nvPr/>
        </p:nvSpPr>
        <p:spPr bwMode="auto">
          <a:xfrm>
            <a:off x="346074" y="324562"/>
            <a:ext cx="6102944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3" name="Заголовок 13">
            <a:extLst>
              <a:ext uri="{FF2B5EF4-FFF2-40B4-BE49-F238E27FC236}">
                <a16:creationId xmlns:a16="http://schemas.microsoft.com/office/drawing/2014/main" id="{DA17F610-4AFC-D993-DFBB-843B7AB9B7F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46075" y="324562"/>
            <a:ext cx="6102944" cy="620918"/>
          </a:xfrm>
        </p:spPr>
        <p:txBody>
          <a:bodyPr anchor="ctr" anchorCtr="0"/>
          <a:lstStyle/>
          <a:p>
            <a:pPr>
              <a:defRPr/>
            </a:pPr>
            <a:r>
              <a:rPr lang="ru-RU" dirty="0"/>
              <a:t>Распределение ответственности</a:t>
            </a:r>
          </a:p>
        </p:txBody>
      </p:sp>
    </p:spTree>
    <p:extLst>
      <p:ext uri="{BB962C8B-B14F-4D97-AF65-F5344CB8AC3E}">
        <p14:creationId xmlns:p14="http://schemas.microsoft.com/office/powerpoint/2010/main" val="364773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11260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88215570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64311504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81444935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5132862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14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728356974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423628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F92571"/>
                </a:solidFill>
              </a:rPr>
              <a:t>Baseline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102303327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300" dirty="0">
                <a:solidFill>
                  <a:schemeClr val="tx1"/>
                </a:solidFill>
              </a:rPr>
              <a:t>Жадный алгоритм: берёт заявки по порядку и добавляет каждую в конец маршрута первой подходящей бригады. Рассчитывает план за 0,005 с, но назначает только 331 заявку; общий путь </a:t>
            </a:r>
            <a:r>
              <a:rPr lang="en-US" sz="1300" dirty="0">
                <a:solidFill>
                  <a:schemeClr val="tx1"/>
                </a:solidFill>
              </a:rPr>
              <a:t>–</a:t>
            </a:r>
            <a:r>
              <a:rPr lang="ru-RU" sz="1300" dirty="0">
                <a:solidFill>
                  <a:schemeClr val="tx1"/>
                </a:solidFill>
              </a:rPr>
              <a:t> 3411 км.02 ·</a:t>
            </a:r>
          </a:p>
        </p:txBody>
      </p:sp>
      <p:sp>
        <p:nvSpPr>
          <p:cNvPr id="1364861697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373557"/>
            <a:ext cx="2337416" cy="403756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F92571"/>
                </a:solidFill>
              </a:rPr>
              <a:t>OR-Tools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840682520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300" dirty="0">
                <a:solidFill>
                  <a:schemeClr val="tx1"/>
                </a:solidFill>
              </a:rPr>
              <a:t>Предыдущая версия планировщика на библиотеке Google. Ищет маршруты с учётом приоритетов и улучшает их локальным поиском. Назначает 455 заявок, общий путь </a:t>
            </a:r>
            <a:r>
              <a:rPr lang="en-US" sz="1300" dirty="0">
                <a:solidFill>
                  <a:schemeClr val="tx1"/>
                </a:solidFill>
              </a:rPr>
              <a:t>–</a:t>
            </a:r>
            <a:r>
              <a:rPr lang="ru-RU" sz="1300" dirty="0">
                <a:solidFill>
                  <a:schemeClr val="tx1"/>
                </a:solidFill>
              </a:rPr>
              <a:t> 2793 км, расчёт </a:t>
            </a:r>
            <a:r>
              <a:rPr lang="en-US" sz="1300" dirty="0">
                <a:solidFill>
                  <a:schemeClr val="tx1"/>
                </a:solidFill>
              </a:rPr>
              <a:t>–</a:t>
            </a:r>
            <a:r>
              <a:rPr lang="ru-RU" sz="1300" dirty="0">
                <a:solidFill>
                  <a:schemeClr val="tx1"/>
                </a:solidFill>
              </a:rPr>
              <a:t> около 10 с.03</a:t>
            </a:r>
          </a:p>
        </p:txBody>
      </p:sp>
      <p:sp>
        <p:nvSpPr>
          <p:cNvPr id="1769023508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379657"/>
            <a:ext cx="2268537" cy="403913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F92571"/>
                </a:solidFill>
              </a:rPr>
              <a:t>VROOM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19110492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300" dirty="0">
                <a:solidFill>
                  <a:schemeClr val="tx1"/>
                </a:solidFill>
              </a:rPr>
              <a:t>Движок маршрутизации на </a:t>
            </a:r>
            <a:r>
              <a:rPr lang="ru-RU" sz="1300" dirty="0" err="1">
                <a:solidFill>
                  <a:schemeClr val="tx1"/>
                </a:solidFill>
              </a:rPr>
              <a:t>C</a:t>
            </a:r>
            <a:r>
              <a:rPr lang="ru-RU" sz="1300" dirty="0">
                <a:solidFill>
                  <a:schemeClr val="tx1"/>
                </a:solidFill>
              </a:rPr>
              <a:t>++, дополненный нашим базовым поиском улучшений. Назначает 465 заявок, включая все 29 аварий. Общий путь </a:t>
            </a:r>
            <a:r>
              <a:rPr lang="en-US" sz="1300" dirty="0">
                <a:solidFill>
                  <a:schemeClr val="tx1"/>
                </a:solidFill>
              </a:rPr>
              <a:t>–</a:t>
            </a:r>
            <a:r>
              <a:rPr lang="ru-RU" sz="1300" dirty="0">
                <a:solidFill>
                  <a:schemeClr val="tx1"/>
                </a:solidFill>
              </a:rPr>
              <a:t> 2639 км, расчёт </a:t>
            </a:r>
            <a:r>
              <a:rPr lang="en-US" sz="1300" dirty="0">
                <a:solidFill>
                  <a:schemeClr val="tx1"/>
                </a:solidFill>
              </a:rPr>
              <a:t>–</a:t>
            </a:r>
            <a:r>
              <a:rPr lang="ru-RU" sz="1300" dirty="0">
                <a:solidFill>
                  <a:schemeClr val="tx1"/>
                </a:solidFill>
              </a:rPr>
              <a:t> около 10 с.04</a:t>
            </a:r>
          </a:p>
        </p:txBody>
      </p:sp>
      <p:sp>
        <p:nvSpPr>
          <p:cNvPr id="1621255393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F92571"/>
                </a:solidFill>
              </a:rPr>
              <a:t>VROOM-enhance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925571275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Наша улучшенная версия VROOM: дополнительно перестраивает маршруты и переносит визиты между бригадами. Назначает те же 465 заявок, но сокращает общий путь до 2177 км </a:t>
            </a:r>
            <a:r>
              <a:rPr lang="en-US" dirty="0">
                <a:solidFill>
                  <a:schemeClr val="tx1"/>
                </a:solidFill>
              </a:rPr>
              <a:t>–</a:t>
            </a:r>
            <a:r>
              <a:rPr lang="ru-RU" dirty="0">
                <a:solidFill>
                  <a:schemeClr val="tx1"/>
                </a:solidFill>
              </a:rPr>
              <a:t> на 17,5% относительно VROOM при том же времени </a:t>
            </a:r>
            <a:r>
              <a:rPr lang="ru-RU" dirty="0" err="1">
                <a:solidFill>
                  <a:schemeClr val="tx1"/>
                </a:solidFill>
              </a:rPr>
              <a:t>расчёта.Все</a:t>
            </a:r>
            <a:r>
              <a:rPr lang="ru-RU" dirty="0">
                <a:solidFill>
                  <a:schemeClr val="tx1"/>
                </a:solidFill>
              </a:rPr>
              <a:t> четыре алгоритма соблюли проверенные обязательные ограничения.</a:t>
            </a:r>
          </a:p>
        </p:txBody>
      </p:sp>
      <p:sp>
        <p:nvSpPr>
          <p:cNvPr id="553633505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709633004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732712452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635597112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7" name="Скругленный прямоугольник 1">
            <a:extLst>
              <a:ext uri="{FF2B5EF4-FFF2-40B4-BE49-F238E27FC236}">
                <a16:creationId xmlns:a16="http://schemas.microsoft.com/office/drawing/2014/main" id="{77CC97FC-145A-9E36-4B51-2935A8EB0DEA}"/>
              </a:ext>
            </a:extLst>
          </p:cNvPr>
          <p:cNvSpPr/>
          <p:nvPr/>
        </p:nvSpPr>
        <p:spPr bwMode="auto">
          <a:xfrm>
            <a:off x="346075" y="324562"/>
            <a:ext cx="610294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" name="Заголовок 13">
            <a:extLst>
              <a:ext uri="{FF2B5EF4-FFF2-40B4-BE49-F238E27FC236}">
                <a16:creationId xmlns:a16="http://schemas.microsoft.com/office/drawing/2014/main" id="{56B446C5-04CC-A50B-F06B-0064F61FC141}"/>
              </a:ext>
            </a:extLst>
          </p:cNvPr>
          <p:cNvSpPr txBox="1">
            <a:spLocks/>
          </p:cNvSpPr>
          <p:nvPr/>
        </p:nvSpPr>
        <p:spPr bwMode="auto">
          <a:xfrm>
            <a:off x="346075" y="312000"/>
            <a:ext cx="6102944" cy="63099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>
              <a:defRPr/>
            </a:pPr>
            <a:r>
              <a:rPr lang="ru-RU" dirty="0"/>
              <a:t>Выбранный алгоритм</a:t>
            </a:r>
          </a:p>
        </p:txBody>
      </p:sp>
    </p:spTree>
    <p:extLst>
      <p:ext uri="{BB962C8B-B14F-4D97-AF65-F5344CB8AC3E}">
        <p14:creationId xmlns:p14="http://schemas.microsoft.com/office/powerpoint/2010/main" val="3005500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422193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15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27317630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666575944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755267" y="1722800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accent5"/>
                </a:solidFill>
              </a:rPr>
              <a:t>Из 627 заявок</a:t>
            </a:r>
            <a:r>
              <a:rPr lang="en-US" dirty="0">
                <a:solidFill>
                  <a:schemeClr val="accent5"/>
                </a:solidFill>
              </a:rPr>
              <a:t>, </a:t>
            </a:r>
            <a:r>
              <a:rPr lang="ru-RU" dirty="0">
                <a:solidFill>
                  <a:schemeClr val="accent5"/>
                </a:solidFill>
              </a:rPr>
              <a:t>предел по оборудованию – 465</a:t>
            </a:r>
          </a:p>
        </p:txBody>
      </p:sp>
      <p:sp>
        <p:nvSpPr>
          <p:cNvPr id="21059579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25973680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755267" y="2991361"/>
            <a:ext cx="4790314" cy="642164"/>
          </a:xfrm>
        </p:spPr>
        <p:txBody>
          <a:bodyPr/>
          <a:lstStyle/>
          <a:p>
            <a:pPr>
              <a:defRPr/>
            </a:pP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549386514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112297575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755267" y="4259922"/>
            <a:ext cx="4790314" cy="642164"/>
          </a:xfrm>
        </p:spPr>
        <p:txBody>
          <a:bodyPr/>
          <a:lstStyle/>
          <a:p>
            <a:pPr>
              <a:defRPr/>
            </a:pP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579708373" name="Текст 8"/>
          <p:cNvSpPr>
            <a:spLocks noGrp="1"/>
          </p:cNvSpPr>
          <p:nvPr>
            <p:ph type="body" sz="quarter" idx="26"/>
          </p:nvPr>
        </p:nvSpPr>
        <p:spPr bwMode="auto"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689253862" name="Текст 9"/>
          <p:cNvSpPr>
            <a:spLocks noGrp="1"/>
          </p:cNvSpPr>
          <p:nvPr>
            <p:ph type="body" sz="quarter" idx="27"/>
          </p:nvPr>
        </p:nvSpPr>
        <p:spPr bwMode="auto">
          <a:xfrm>
            <a:off x="6755267" y="5528484"/>
            <a:ext cx="4790314" cy="642164"/>
          </a:xfrm>
        </p:spPr>
        <p:txBody>
          <a:bodyPr/>
          <a:lstStyle/>
          <a:p>
            <a:pPr>
              <a:defRPr/>
            </a:pPr>
            <a:endParaRPr lang="ru-RU" dirty="0">
              <a:solidFill>
                <a:schemeClr val="accent5"/>
              </a:solidFill>
            </a:endParaRPr>
          </a:p>
        </p:txBody>
      </p:sp>
      <p:graphicFrame>
        <p:nvGraphicFramePr>
          <p:cNvPr id="26868884" name="Диаграмма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9655812"/>
              </p:ext>
            </p:extLst>
          </p:nvPr>
        </p:nvGraphicFramePr>
        <p:xfrm>
          <a:off x="346075" y="1424510"/>
          <a:ext cx="6102944" cy="4746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950070C-DF60-2C6F-92D7-B6ACE1FD6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6081298" cy="376138"/>
          </a:xfrm>
        </p:spPr>
        <p:txBody>
          <a:bodyPr/>
          <a:lstStyle/>
          <a:p>
            <a:endParaRPr lang="ru-RU"/>
          </a:p>
        </p:txBody>
      </p:sp>
      <p:sp>
        <p:nvSpPr>
          <p:cNvPr id="4" name="Скругленный прямоугольник 1">
            <a:extLst>
              <a:ext uri="{FF2B5EF4-FFF2-40B4-BE49-F238E27FC236}">
                <a16:creationId xmlns:a16="http://schemas.microsoft.com/office/drawing/2014/main" id="{B4C2F4A1-5562-3ED8-936D-184FF424D261}"/>
              </a:ext>
            </a:extLst>
          </p:cNvPr>
          <p:cNvSpPr/>
          <p:nvPr/>
        </p:nvSpPr>
        <p:spPr bwMode="auto">
          <a:xfrm>
            <a:off x="346075" y="324562"/>
            <a:ext cx="610294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" name="Заголовок 13">
            <a:extLst>
              <a:ext uri="{FF2B5EF4-FFF2-40B4-BE49-F238E27FC236}">
                <a16:creationId xmlns:a16="http://schemas.microsoft.com/office/drawing/2014/main" id="{E3313BBB-B2E3-C1C3-E1F5-48C9EDAE6EBB}"/>
              </a:ext>
            </a:extLst>
          </p:cNvPr>
          <p:cNvSpPr txBox="1">
            <a:spLocks/>
          </p:cNvSpPr>
          <p:nvPr/>
        </p:nvSpPr>
        <p:spPr bwMode="auto">
          <a:xfrm>
            <a:off x="346075" y="312000"/>
            <a:ext cx="6102944" cy="63099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>
              <a:defRPr/>
            </a:pPr>
            <a:r>
              <a:rPr lang="ru-RU" dirty="0"/>
              <a:t>Сравнение алгоритмов: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ru-RU" dirty="0" err="1"/>
              <a:t>значенные</a:t>
            </a:r>
            <a:r>
              <a:rPr lang="ru-RU" dirty="0"/>
              <a:t> заявки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422193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16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27317630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666575944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755267" y="1722800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 err="1">
                <a:solidFill>
                  <a:schemeClr val="accent5"/>
                </a:solidFill>
              </a:rPr>
              <a:t>Бригадо</a:t>
            </a:r>
            <a:r>
              <a:rPr lang="ru-RU" dirty="0">
                <a:solidFill>
                  <a:schemeClr val="accent5"/>
                </a:solidFill>
              </a:rPr>
              <a:t>-дни: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err="1">
                <a:solidFill>
                  <a:schemeClr val="accent5"/>
                </a:solidFill>
              </a:rPr>
              <a:t>с</a:t>
            </a:r>
            <a:r>
              <a:rPr lang="ru-RU" dirty="0" err="1">
                <a:solidFill>
                  <a:schemeClr val="accent5"/>
                </a:solidFill>
              </a:rPr>
              <a:t>умма</a:t>
            </a:r>
            <a:r>
              <a:rPr lang="ru-RU" dirty="0">
                <a:solidFill>
                  <a:schemeClr val="accent5"/>
                </a:solidFill>
              </a:rPr>
              <a:t> по 9 региональным дням</a:t>
            </a:r>
          </a:p>
        </p:txBody>
      </p:sp>
      <p:sp>
        <p:nvSpPr>
          <p:cNvPr id="21059579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25973680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755267" y="2991361"/>
            <a:ext cx="4790314" cy="642164"/>
          </a:xfrm>
        </p:spPr>
        <p:txBody>
          <a:bodyPr/>
          <a:lstStyle/>
          <a:p>
            <a:pPr>
              <a:defRPr/>
            </a:pPr>
            <a:endParaRPr lang="ru-RU">
              <a:solidFill>
                <a:schemeClr val="accent5"/>
              </a:solidFill>
            </a:endParaRPr>
          </a:p>
        </p:txBody>
      </p:sp>
      <p:sp>
        <p:nvSpPr>
          <p:cNvPr id="549386514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12297575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755267" y="4259922"/>
            <a:ext cx="4790314" cy="642164"/>
          </a:xfrm>
        </p:spPr>
        <p:txBody>
          <a:bodyPr/>
          <a:lstStyle/>
          <a:p>
            <a:pPr>
              <a:defRPr/>
            </a:pP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579708373" name="Текст 8"/>
          <p:cNvSpPr>
            <a:spLocks noGrp="1"/>
          </p:cNvSpPr>
          <p:nvPr>
            <p:ph type="body" sz="quarter" idx="26"/>
          </p:nvPr>
        </p:nvSpPr>
        <p:spPr bwMode="auto"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689253862" name="Текст 9"/>
          <p:cNvSpPr>
            <a:spLocks noGrp="1"/>
          </p:cNvSpPr>
          <p:nvPr>
            <p:ph type="body" sz="quarter" idx="27"/>
          </p:nvPr>
        </p:nvSpPr>
        <p:spPr bwMode="auto">
          <a:xfrm>
            <a:off x="6755267" y="5528484"/>
            <a:ext cx="4790314" cy="642164"/>
          </a:xfrm>
        </p:spPr>
        <p:txBody>
          <a:bodyPr/>
          <a:lstStyle/>
          <a:p>
            <a:pPr>
              <a:defRPr/>
            </a:pPr>
            <a:endParaRPr lang="ru-RU" dirty="0">
              <a:solidFill>
                <a:schemeClr val="accent5"/>
              </a:solidFill>
            </a:endParaRPr>
          </a:p>
        </p:txBody>
      </p:sp>
      <p:graphicFrame>
        <p:nvGraphicFramePr>
          <p:cNvPr id="26868884" name="Диаграмма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1822394"/>
              </p:ext>
            </p:extLst>
          </p:nvPr>
        </p:nvGraphicFramePr>
        <p:xfrm>
          <a:off x="346075" y="1424510"/>
          <a:ext cx="6102944" cy="4746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950070C-DF60-2C6F-92D7-B6ACE1FD6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6081298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Скругленный прямоугольник 1">
            <a:extLst>
              <a:ext uri="{FF2B5EF4-FFF2-40B4-BE49-F238E27FC236}">
                <a16:creationId xmlns:a16="http://schemas.microsoft.com/office/drawing/2014/main" id="{B4C2F4A1-5562-3ED8-936D-184FF424D261}"/>
              </a:ext>
            </a:extLst>
          </p:cNvPr>
          <p:cNvSpPr/>
          <p:nvPr/>
        </p:nvSpPr>
        <p:spPr bwMode="auto">
          <a:xfrm>
            <a:off x="346075" y="324562"/>
            <a:ext cx="610294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" name="Заголовок 13">
            <a:extLst>
              <a:ext uri="{FF2B5EF4-FFF2-40B4-BE49-F238E27FC236}">
                <a16:creationId xmlns:a16="http://schemas.microsoft.com/office/drawing/2014/main" id="{E3313BBB-B2E3-C1C3-E1F5-48C9EDAE6EBB}"/>
              </a:ext>
            </a:extLst>
          </p:cNvPr>
          <p:cNvSpPr txBox="1">
            <a:spLocks/>
          </p:cNvSpPr>
          <p:nvPr/>
        </p:nvSpPr>
        <p:spPr bwMode="auto">
          <a:xfrm>
            <a:off x="346075" y="312000"/>
            <a:ext cx="6102944" cy="63099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>
              <a:defRPr/>
            </a:pPr>
            <a:r>
              <a:rPr lang="ru-RU" dirty="0"/>
              <a:t>Сравнение алгоритмов:</a:t>
            </a:r>
            <a:r>
              <a:rPr lang="en-US" dirty="0"/>
              <a:t> </a:t>
            </a:r>
            <a:r>
              <a:rPr lang="ru-RU" dirty="0"/>
              <a:t>задействованные бригады</a:t>
            </a:r>
          </a:p>
        </p:txBody>
      </p:sp>
    </p:spTree>
    <p:extLst>
      <p:ext uri="{BB962C8B-B14F-4D97-AF65-F5344CB8AC3E}">
        <p14:creationId xmlns:p14="http://schemas.microsoft.com/office/powerpoint/2010/main" val="867799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422193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27317630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666575944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755267" y="1722800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accent5"/>
                </a:solidFill>
              </a:rPr>
              <a:t>По дорожной сети.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err="1">
                <a:solidFill>
                  <a:schemeClr val="accent5"/>
                </a:solidFill>
              </a:rPr>
              <a:t>А</a:t>
            </a:r>
            <a:r>
              <a:rPr lang="ru-RU" dirty="0" err="1">
                <a:solidFill>
                  <a:schemeClr val="accent5"/>
                </a:solidFill>
              </a:rPr>
              <a:t>втомобильный</a:t>
            </a:r>
            <a:r>
              <a:rPr lang="ru-RU" dirty="0">
                <a:solidFill>
                  <a:schemeClr val="accent5"/>
                </a:solidFill>
              </a:rPr>
              <a:t> и пеший путь вместе</a:t>
            </a:r>
          </a:p>
        </p:txBody>
      </p:sp>
      <p:sp>
        <p:nvSpPr>
          <p:cNvPr id="21059579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25973680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755267" y="2991361"/>
            <a:ext cx="4790314" cy="642164"/>
          </a:xfrm>
        </p:spPr>
        <p:txBody>
          <a:bodyPr/>
          <a:lstStyle/>
          <a:p>
            <a:pPr>
              <a:defRPr/>
            </a:pP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549386514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12297575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755267" y="4259922"/>
            <a:ext cx="4790314" cy="642164"/>
          </a:xfrm>
        </p:spPr>
        <p:txBody>
          <a:bodyPr/>
          <a:lstStyle/>
          <a:p>
            <a:pPr>
              <a:defRPr/>
            </a:pP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579708373" name="Текст 8"/>
          <p:cNvSpPr>
            <a:spLocks noGrp="1"/>
          </p:cNvSpPr>
          <p:nvPr>
            <p:ph type="body" sz="quarter" idx="26"/>
          </p:nvPr>
        </p:nvSpPr>
        <p:spPr bwMode="auto"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689253862" name="Текст 9"/>
          <p:cNvSpPr>
            <a:spLocks noGrp="1"/>
          </p:cNvSpPr>
          <p:nvPr>
            <p:ph type="body" sz="quarter" idx="27"/>
          </p:nvPr>
        </p:nvSpPr>
        <p:spPr bwMode="auto">
          <a:xfrm>
            <a:off x="6755267" y="5528484"/>
            <a:ext cx="4790314" cy="642164"/>
          </a:xfrm>
        </p:spPr>
        <p:txBody>
          <a:bodyPr/>
          <a:lstStyle/>
          <a:p>
            <a:pPr>
              <a:defRPr/>
            </a:pPr>
            <a:endParaRPr lang="ru-RU" dirty="0">
              <a:solidFill>
                <a:schemeClr val="accent5"/>
              </a:solidFill>
            </a:endParaRPr>
          </a:p>
        </p:txBody>
      </p:sp>
      <p:graphicFrame>
        <p:nvGraphicFramePr>
          <p:cNvPr id="26868884" name="Диаграмма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6968319"/>
              </p:ext>
            </p:extLst>
          </p:nvPr>
        </p:nvGraphicFramePr>
        <p:xfrm>
          <a:off x="346075" y="1424510"/>
          <a:ext cx="6102944" cy="4746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950070C-DF60-2C6F-92D7-B6ACE1FD6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6081298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Скругленный прямоугольник 1">
            <a:extLst>
              <a:ext uri="{FF2B5EF4-FFF2-40B4-BE49-F238E27FC236}">
                <a16:creationId xmlns:a16="http://schemas.microsoft.com/office/drawing/2014/main" id="{B4C2F4A1-5562-3ED8-936D-184FF424D261}"/>
              </a:ext>
            </a:extLst>
          </p:cNvPr>
          <p:cNvSpPr/>
          <p:nvPr/>
        </p:nvSpPr>
        <p:spPr bwMode="auto">
          <a:xfrm>
            <a:off x="346075" y="324562"/>
            <a:ext cx="610294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" name="Заголовок 13">
            <a:extLst>
              <a:ext uri="{FF2B5EF4-FFF2-40B4-BE49-F238E27FC236}">
                <a16:creationId xmlns:a16="http://schemas.microsoft.com/office/drawing/2014/main" id="{E3313BBB-B2E3-C1C3-E1F5-48C9EDAE6EBB}"/>
              </a:ext>
            </a:extLst>
          </p:cNvPr>
          <p:cNvSpPr txBox="1">
            <a:spLocks/>
          </p:cNvSpPr>
          <p:nvPr/>
        </p:nvSpPr>
        <p:spPr bwMode="auto">
          <a:xfrm>
            <a:off x="346075" y="312000"/>
            <a:ext cx="6102944" cy="63099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>
              <a:defRPr/>
            </a:pPr>
            <a:r>
              <a:rPr lang="ru-RU" dirty="0"/>
              <a:t>Сравнение алгоритмов:</a:t>
            </a:r>
            <a:r>
              <a:rPr lang="en-US" dirty="0"/>
              <a:t> </a:t>
            </a:r>
            <a:r>
              <a:rPr lang="ru-RU" dirty="0"/>
              <a:t>длина маршрутов</a:t>
            </a:r>
          </a:p>
        </p:txBody>
      </p:sp>
    </p:spTree>
    <p:extLst>
      <p:ext uri="{BB962C8B-B14F-4D97-AF65-F5344CB8AC3E}">
        <p14:creationId xmlns:p14="http://schemas.microsoft.com/office/powerpoint/2010/main" val="1522968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980009" name="Номер слайда 1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45791128" name="Текст 1"/>
          <p:cNvSpPr>
            <a:spLocks noGrp="1"/>
          </p:cNvSpPr>
          <p:nvPr>
            <p:ph type="body" sz="quarter" idx="26"/>
          </p:nvPr>
        </p:nvSpPr>
        <p:spPr bwMode="auto">
          <a:xfrm>
            <a:off x="186480" y="1368737"/>
            <a:ext cx="2836197" cy="1566026"/>
          </a:xfrm>
          <a:prstGeom prst="roundRect">
            <a:avLst>
              <a:gd name="adj" fmla="val 0"/>
            </a:avLst>
          </a:prstGeom>
          <a:noFill/>
        </p:spPr>
        <p:txBody>
          <a:bodyPr anchor="ctr" anchorCtr="0"/>
          <a:lstStyle/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Интеграция данных</a:t>
            </a:r>
            <a:r>
              <a:rPr lang="ru-RU" sz="1400" b="0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–</a:t>
            </a:r>
            <a:r>
              <a:rPr lang="ru-RU" sz="1400" b="0" dirty="0">
                <a:solidFill>
                  <a:schemeClr val="tx1"/>
                </a:solidFill>
              </a:rPr>
              <a:t> получать заявки и состав доступных бригад из внутренних систем вместо загрузки CSV.</a:t>
            </a:r>
            <a:endParaRPr lang="ru-RU" sz="1400" b="0" dirty="0">
              <a:solidFill>
                <a:schemeClr val="accent5"/>
              </a:solidFill>
            </a:endParaRPr>
          </a:p>
        </p:txBody>
      </p:sp>
      <p:sp>
        <p:nvSpPr>
          <p:cNvPr id="1063055699" name="Текст 4"/>
          <p:cNvSpPr>
            <a:spLocks noGrp="1"/>
          </p:cNvSpPr>
          <p:nvPr>
            <p:ph type="body" sz="quarter" idx="29"/>
          </p:nvPr>
        </p:nvSpPr>
        <p:spPr bwMode="auto">
          <a:xfrm>
            <a:off x="4644180" y="1370651"/>
            <a:ext cx="2836197" cy="1564112"/>
          </a:xfrm>
        </p:spPr>
        <p:txBody>
          <a:bodyPr anchor="ctr" anchorCtr="0">
            <a:normAutofit/>
          </a:bodyPr>
          <a:lstStyle/>
          <a:p>
            <a:pPr>
              <a:defRPr/>
            </a:pPr>
            <a:r>
              <a:rPr lang="ru-RU" b="1" dirty="0">
                <a:solidFill>
                  <a:schemeClr val="tx1"/>
                </a:solidFill>
              </a:rPr>
              <a:t>Уведомления клиентам – </a:t>
            </a:r>
            <a:r>
              <a:rPr lang="ru-RU" dirty="0">
                <a:solidFill>
                  <a:schemeClr val="tx1"/>
                </a:solidFill>
              </a:rPr>
              <a:t>после принятия нового плана сообщать об изменении времени визита. Сейчас это происходит вне приложения.</a:t>
            </a:r>
          </a:p>
        </p:txBody>
      </p:sp>
      <p:sp>
        <p:nvSpPr>
          <p:cNvPr id="1321846474" name="Текст 6"/>
          <p:cNvSpPr>
            <a:spLocks noGrp="1"/>
          </p:cNvSpPr>
          <p:nvPr>
            <p:ph type="body" sz="quarter" idx="31"/>
          </p:nvPr>
        </p:nvSpPr>
        <p:spPr bwMode="auto">
          <a:xfrm>
            <a:off x="9101880" y="1368737"/>
            <a:ext cx="2836197" cy="1566026"/>
          </a:xfrm>
        </p:spPr>
        <p:txBody>
          <a:bodyPr/>
          <a:lstStyle/>
          <a:p>
            <a:pPr>
              <a:defRPr/>
            </a:pPr>
            <a:r>
              <a:rPr lang="ru-RU" b="1" dirty="0">
                <a:solidFill>
                  <a:schemeClr val="tx1"/>
                </a:solidFill>
              </a:rPr>
              <a:t>Другие районы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b="1" dirty="0">
                <a:solidFill>
                  <a:schemeClr val="tx1"/>
                </a:solidFill>
              </a:rPr>
              <a:t>–</a:t>
            </a:r>
            <a:r>
              <a:rPr lang="ru-RU" dirty="0">
                <a:solidFill>
                  <a:schemeClr val="tx1"/>
                </a:solidFill>
              </a:rPr>
              <a:t> применять решение на новых территориях обслуживания Билайна с их заявками и бригадами.</a:t>
            </a:r>
            <a:br>
              <a:rPr lang="ru-RU" dirty="0">
                <a:solidFill>
                  <a:schemeClr val="tx1"/>
                </a:solidFill>
              </a:rPr>
            </a:b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52980671" name="Текст 8"/>
          <p:cNvSpPr>
            <a:spLocks noGrp="1"/>
          </p:cNvSpPr>
          <p:nvPr>
            <p:ph type="body" sz="quarter" idx="33"/>
          </p:nvPr>
        </p:nvSpPr>
        <p:spPr bwMode="auto">
          <a:xfrm>
            <a:off x="2471878" y="4823423"/>
            <a:ext cx="2836197" cy="1581312"/>
          </a:xfrm>
        </p:spPr>
        <p:txBody>
          <a:bodyPr anchor="ctr" anchorCtr="0"/>
          <a:lstStyle/>
          <a:p>
            <a:pPr>
              <a:defRPr/>
            </a:pPr>
            <a:r>
              <a:rPr lang="ru-RU" b="1" dirty="0">
                <a:solidFill>
                  <a:schemeClr val="tx1"/>
                </a:solidFill>
              </a:rPr>
              <a:t>Интерфейс инженера –</a:t>
            </a:r>
            <a:r>
              <a:rPr lang="ru-RU" dirty="0">
                <a:solidFill>
                  <a:schemeClr val="tx1"/>
                </a:solidFill>
              </a:rPr>
              <a:t> передавать маршрут и принимать отметки о прибытии, начале и завершении работы.</a:t>
            </a:r>
          </a:p>
        </p:txBody>
      </p:sp>
      <p:sp>
        <p:nvSpPr>
          <p:cNvPr id="1837104852" name="Текст 10"/>
          <p:cNvSpPr>
            <a:spLocks noGrp="1"/>
          </p:cNvSpPr>
          <p:nvPr>
            <p:ph type="body" sz="quarter" idx="35"/>
          </p:nvPr>
        </p:nvSpPr>
        <p:spPr bwMode="auto">
          <a:xfrm>
            <a:off x="6948708" y="4789376"/>
            <a:ext cx="2836197" cy="1512650"/>
          </a:xfrm>
        </p:spPr>
        <p:txBody>
          <a:bodyPr anchor="ctr" anchorCtr="0">
            <a:normAutofit/>
          </a:bodyPr>
          <a:lstStyle/>
          <a:p>
            <a:pPr>
              <a:defRPr/>
            </a:pPr>
            <a:r>
              <a:rPr lang="ru-RU" b="1" dirty="0">
                <a:solidFill>
                  <a:schemeClr val="tx1"/>
                </a:solidFill>
              </a:rPr>
              <a:t>Собственные </a:t>
            </a:r>
            <a:r>
              <a:rPr lang="ru-RU" b="1" dirty="0" err="1">
                <a:solidFill>
                  <a:schemeClr val="tx1"/>
                </a:solidFill>
              </a:rPr>
              <a:t>геосервисы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b="1" dirty="0">
                <a:solidFill>
                  <a:schemeClr val="tx1"/>
                </a:solidFill>
              </a:rPr>
              <a:t>–</a:t>
            </a:r>
            <a:r>
              <a:rPr lang="ru-RU" dirty="0">
                <a:solidFill>
                  <a:schemeClr val="tx1"/>
                </a:solidFill>
              </a:rPr>
              <a:t> развернуть поиск адресов и дорожную маршрутизацию для стабильной работы под нагрузкой.</a:t>
            </a:r>
          </a:p>
        </p:txBody>
      </p:sp>
      <p:cxnSp>
        <p:nvCxnSpPr>
          <p:cNvPr id="1731368653" name="Прямая соединительная линия 33"/>
          <p:cNvCxnSpPr/>
          <p:nvPr/>
        </p:nvCxnSpPr>
        <p:spPr bwMode="auto"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670215" name="Прямая соединительная линия 34"/>
          <p:cNvCxnSpPr/>
          <p:nvPr/>
        </p:nvCxnSpPr>
        <p:spPr bwMode="auto"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144373" name="Прямая соединительная линия 35"/>
          <p:cNvCxnSpPr/>
          <p:nvPr/>
        </p:nvCxnSpPr>
        <p:spPr bwMode="auto"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4664500" name="Прямая соединительная линия 36"/>
          <p:cNvCxnSpPr/>
          <p:nvPr/>
        </p:nvCxnSpPr>
        <p:spPr bwMode="auto"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5829465" name="Прямая соединительная линия 37"/>
          <p:cNvCxnSpPr/>
          <p:nvPr/>
        </p:nvCxnSpPr>
        <p:spPr bwMode="auto"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336023" name="Прямая соединительная линия 38"/>
          <p:cNvCxnSpPr/>
          <p:nvPr/>
        </p:nvCxnSpPr>
        <p:spPr bwMode="auto"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998851" name="Прямая соединительная линия 39"/>
          <p:cNvCxnSpPr/>
          <p:nvPr/>
        </p:nvCxnSpPr>
        <p:spPr bwMode="auto"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7937511" name="Прямая соединительная линия 40"/>
          <p:cNvCxnSpPr/>
          <p:nvPr/>
        </p:nvCxnSpPr>
        <p:spPr bwMode="auto"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810320" name="Прямая соединительная линия 41"/>
          <p:cNvCxnSpPr/>
          <p:nvPr/>
        </p:nvCxnSpPr>
        <p:spPr bwMode="auto"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751272" name="Скругленный прямоугольник 42"/>
          <p:cNvSpPr/>
          <p:nvPr/>
        </p:nvSpPr>
        <p:spPr bwMode="auto"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1</a:t>
            </a:r>
            <a:endParaRPr/>
          </a:p>
        </p:txBody>
      </p:sp>
      <p:sp>
        <p:nvSpPr>
          <p:cNvPr id="812859897" name="Скругленный прямоугольник 43"/>
          <p:cNvSpPr/>
          <p:nvPr/>
        </p:nvSpPr>
        <p:spPr bwMode="auto"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2</a:t>
            </a:r>
            <a:endParaRPr/>
          </a:p>
        </p:txBody>
      </p:sp>
      <p:sp>
        <p:nvSpPr>
          <p:cNvPr id="108934526" name="Скругленный прямоугольник 44"/>
          <p:cNvSpPr/>
          <p:nvPr/>
        </p:nvSpPr>
        <p:spPr bwMode="auto"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3</a:t>
            </a:r>
            <a:endParaRPr/>
          </a:p>
        </p:txBody>
      </p:sp>
      <p:sp>
        <p:nvSpPr>
          <p:cNvPr id="1741896490" name="Скругленный прямоугольник 52"/>
          <p:cNvSpPr/>
          <p:nvPr/>
        </p:nvSpPr>
        <p:spPr bwMode="auto"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4</a:t>
            </a:r>
            <a:endParaRPr/>
          </a:p>
        </p:txBody>
      </p:sp>
      <p:sp>
        <p:nvSpPr>
          <p:cNvPr id="1007682587" name="Скругленный прямоугольник 53"/>
          <p:cNvSpPr/>
          <p:nvPr/>
        </p:nvSpPr>
        <p:spPr bwMode="auto"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5</a:t>
            </a:r>
            <a:endParaRPr/>
          </a:p>
        </p:txBody>
      </p:sp>
      <p:sp>
        <p:nvSpPr>
          <p:cNvPr id="1473606708" name="Скругленный прямоугольник 13"/>
          <p:cNvSpPr/>
          <p:nvPr/>
        </p:nvSpPr>
        <p:spPr bwMode="auto"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586179979" name="Скругленный прямоугольник 15"/>
          <p:cNvSpPr/>
          <p:nvPr/>
        </p:nvSpPr>
        <p:spPr bwMode="auto"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2105368717" name="Скругленный прямоугольник 16"/>
          <p:cNvSpPr/>
          <p:nvPr/>
        </p:nvSpPr>
        <p:spPr bwMode="auto"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293685711" name="Скругленный прямоугольник 17"/>
          <p:cNvSpPr/>
          <p:nvPr/>
        </p:nvSpPr>
        <p:spPr bwMode="auto"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624313899" name="Скругленный прямоугольник 18"/>
          <p:cNvSpPr/>
          <p:nvPr/>
        </p:nvSpPr>
        <p:spPr bwMode="auto"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CBF28078-8768-7A3E-896F-4A22A5FF1732}"/>
              </a:ext>
            </a:extLst>
          </p:cNvPr>
          <p:cNvSpPr/>
          <p:nvPr/>
        </p:nvSpPr>
        <p:spPr bwMode="auto">
          <a:xfrm>
            <a:off x="346074" y="324562"/>
            <a:ext cx="6102944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3" name="Заголовок 13">
            <a:extLst>
              <a:ext uri="{FF2B5EF4-FFF2-40B4-BE49-F238E27FC236}">
                <a16:creationId xmlns:a16="http://schemas.microsoft.com/office/drawing/2014/main" id="{DA17F610-4AFC-D993-DFBB-843B7AB9B7F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46075" y="324562"/>
            <a:ext cx="6102944" cy="620918"/>
          </a:xfrm>
        </p:spPr>
        <p:txBody>
          <a:bodyPr anchor="ctr" anchorCtr="0"/>
          <a:lstStyle/>
          <a:p>
            <a:pPr>
              <a:defRPr/>
            </a:pPr>
            <a:r>
              <a:rPr lang="ru-RU" dirty="0"/>
              <a:t>Планы по развитию</a:t>
            </a:r>
          </a:p>
        </p:txBody>
      </p:sp>
    </p:spTree>
    <p:extLst>
      <p:ext uri="{BB962C8B-B14F-4D97-AF65-F5344CB8AC3E}">
        <p14:creationId xmlns:p14="http://schemas.microsoft.com/office/powerpoint/2010/main" val="2525702086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</TotalTime>
  <Words>1791</Words>
  <Application>Microsoft Macintosh PowerPoint</Application>
  <PresentationFormat>Широкоэкранный</PresentationFormat>
  <Paragraphs>191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Montserrat</vt:lpstr>
      <vt:lpstr>Wingdings</vt:lpstr>
      <vt:lpstr>Для Академия инноваторов 16_9</vt:lpstr>
      <vt:lpstr>Sicilian</vt:lpstr>
      <vt:lpstr>Команда «Sicilian»</vt:lpstr>
      <vt:lpstr>Команда «Sicilian»</vt:lpstr>
      <vt:lpstr>Команда «Sicilian»</vt:lpstr>
      <vt:lpstr>КОРОТКО О РЕШЕНИИ</vt:lpstr>
      <vt:lpstr>Проблема организации планирования выездных работ </vt:lpstr>
      <vt:lpstr>Презентация PowerPoint</vt:lpstr>
      <vt:lpstr>Наше решение для диспетчера</vt:lpstr>
      <vt:lpstr>Презентация PowerPoint</vt:lpstr>
      <vt:lpstr>Рабочий день диспетчера</vt:lpstr>
      <vt:lpstr>Что происходит при поступлении аварии?</vt:lpstr>
      <vt:lpstr>Стек технологий</vt:lpstr>
      <vt:lpstr>Распределение ответственности</vt:lpstr>
      <vt:lpstr>Презентация PowerPoint</vt:lpstr>
      <vt:lpstr>Презентация PowerPoint</vt:lpstr>
      <vt:lpstr>Презентация PowerPoint</vt:lpstr>
      <vt:lpstr>Презентация PowerPoint</vt:lpstr>
      <vt:lpstr>Планы по развитию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Скорняков Дмитрий</cp:lastModifiedBy>
  <cp:revision>113</cp:revision>
  <dcterms:created xsi:type="dcterms:W3CDTF">2023-05-15T07:36:23Z</dcterms:created>
  <dcterms:modified xsi:type="dcterms:W3CDTF">2026-09-29T20:38:51Z</dcterms:modified>
</cp:coreProperties>
</file>