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Основание: docs/work_breakdown.md · docs/functional_scope.md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Основание: docs/contracts/planner.md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Основание: docs/contracts/data.md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Основание: docs/contracts/geo.md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Основание: docs/contracts/plans.md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Основание: docs/contracts/frontend.md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Основание: docs/contracts/*.md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Основание: docs/work_breakdown.md · docs/contracts/*.md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Основание: docs/work_breakdown.md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Основание: docs/work_breakdown.md · docs/functional_scope.md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00" y="317500"/>
            <a:ext cx="8636000" cy="158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000" b="1" dirty="0">
                <a:solidFill>
                  <a:srgbClr val="6975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 РАЗРАБОТКИ</a:t>
            </a:r>
            <a:endParaRPr lang="ru-RU" sz="1000" dirty="0"/>
          </a:p>
        </p:txBody>
      </p:sp>
      <p:sp>
        <p:nvSpPr>
          <p:cNvPr id="4" name="Text 1"/>
          <p:cNvSpPr/>
          <p:nvPr/>
        </p:nvSpPr>
        <p:spPr>
          <a:xfrm>
            <a:off x="609600" y="673100"/>
            <a:ext cx="10972800" cy="492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3100" b="1" dirty="0">
                <a:solidFill>
                  <a:srgbClr val="15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Решение и распределение работы</a:t>
            </a:r>
            <a:endParaRPr lang="ru-RU" sz="3100" dirty="0"/>
          </a:p>
        </p:txBody>
      </p:sp>
      <p:sp>
        <p:nvSpPr>
          <p:cNvPr id="5" name="Text 2"/>
          <p:cNvSpPr/>
          <p:nvPr/>
        </p:nvSpPr>
        <p:spPr>
          <a:xfrm>
            <a:off x="609600" y="1257300"/>
            <a:ext cx="10972800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400" dirty="0">
                <a:solidFill>
                  <a:srgbClr val="6975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Веб-приложение диспетчера: распределение заявок, маршруты и перепланирование.</a:t>
            </a:r>
            <a:endParaRPr lang="ru-RU" sz="1400" dirty="0"/>
          </a:p>
        </p:txBody>
      </p:sp>
      <p:sp>
        <p:nvSpPr>
          <p:cNvPr id="6" name="Shape 3"/>
          <p:cNvSpPr/>
          <p:nvPr/>
        </p:nvSpPr>
        <p:spPr>
          <a:xfrm>
            <a:off x="609600" y="6413500"/>
            <a:ext cx="10972800" cy="0"/>
          </a:xfrm>
          <a:prstGeom prst="line">
            <a:avLst/>
          </a:prstGeom>
          <a:noFill/>
          <a:ln w="8890">
            <a:solidFill>
              <a:srgbClr val="DDDCD6"/>
            </a:solidFill>
            <a:prstDash val="solid"/>
            <a:headEnd type="none"/>
            <a:tailEnd type="none"/>
          </a:ln>
        </p:spPr>
      </p:sp>
      <p:sp>
        <p:nvSpPr>
          <p:cNvPr id="7" name="Text 4"/>
          <p:cNvSpPr/>
          <p:nvPr/>
        </p:nvSpPr>
        <p:spPr>
          <a:xfrm>
            <a:off x="609600" y="6565900"/>
            <a:ext cx="99695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900" dirty="0">
                <a:solidFill>
                  <a:srgbClr val="6975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docs/work_breakdown.md · docs/functional_scope.md</a:t>
            </a:r>
            <a:endParaRPr lang="ru-RU" sz="900" dirty="0"/>
          </a:p>
        </p:txBody>
      </p:sp>
      <p:sp>
        <p:nvSpPr>
          <p:cNvPr id="8" name="Text 5"/>
          <p:cNvSpPr/>
          <p:nvPr/>
        </p:nvSpPr>
        <p:spPr>
          <a:xfrm>
            <a:off x="10769600" y="6540500"/>
            <a:ext cx="812800" cy="158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ru-RU" altLang="en-US" sz="1000" b="1" dirty="0">
                <a:solidFill>
                  <a:srgbClr val="6975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10</a:t>
            </a:r>
            <a:endParaRPr lang="ru-RU" sz="1000" dirty="0"/>
          </a:p>
        </p:txBody>
      </p:sp>
      <p:sp>
        <p:nvSpPr>
          <p:cNvPr id="9" name="Text 6"/>
          <p:cNvSpPr/>
          <p:nvPr/>
        </p:nvSpPr>
        <p:spPr>
          <a:xfrm>
            <a:off x="609600" y="1511300"/>
            <a:ext cx="1097280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500" dirty="0">
                <a:solidFill>
                  <a:srgbClr val="6975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Backend: одно приложение, четыре внутренних модуля. Команда: 4 Go + 1 Frontend.</a:t>
            </a:r>
            <a:endParaRPr lang="ru-RU" sz="1500" dirty="0"/>
          </a:p>
        </p:txBody>
      </p:sp>
      <p:sp>
        <p:nvSpPr>
          <p:cNvPr id="10" name="Text 7"/>
          <p:cNvSpPr/>
          <p:nvPr/>
        </p:nvSpPr>
        <p:spPr>
          <a:xfrm>
            <a:off x="609600" y="2032000"/>
            <a:ext cx="1333500" cy="158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000" b="1" dirty="0">
                <a:solidFill>
                  <a:srgbClr val="6975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ИСПОЛНИТЕЛЬ</a:t>
            </a:r>
            <a:endParaRPr lang="ru-RU" sz="1000" dirty="0"/>
          </a:p>
        </p:txBody>
      </p:sp>
      <p:sp>
        <p:nvSpPr>
          <p:cNvPr id="11" name="Text 8"/>
          <p:cNvSpPr/>
          <p:nvPr/>
        </p:nvSpPr>
        <p:spPr>
          <a:xfrm>
            <a:off x="2070100" y="2032000"/>
            <a:ext cx="3937000" cy="158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000" b="1" dirty="0">
                <a:solidFill>
                  <a:srgbClr val="6975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ЧАСТЬ РЕШЕНИЯ</a:t>
            </a:r>
            <a:endParaRPr lang="ru-RU" sz="1000" dirty="0"/>
          </a:p>
        </p:txBody>
      </p:sp>
      <p:sp>
        <p:nvSpPr>
          <p:cNvPr id="12" name="Text 9"/>
          <p:cNvSpPr/>
          <p:nvPr/>
        </p:nvSpPr>
        <p:spPr>
          <a:xfrm>
            <a:off x="6210300" y="2032000"/>
            <a:ext cx="5372100" cy="158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000" b="1" dirty="0">
                <a:solidFill>
                  <a:srgbClr val="6975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ОСНОВНАЯ ОТВЕТСТВЕННОСТЬ</a:t>
            </a:r>
            <a:endParaRPr lang="ru-RU" sz="1000" dirty="0"/>
          </a:p>
        </p:txBody>
      </p:sp>
      <p:sp>
        <p:nvSpPr>
          <p:cNvPr id="13" name="Shape 10"/>
          <p:cNvSpPr/>
          <p:nvPr/>
        </p:nvSpPr>
        <p:spPr>
          <a:xfrm>
            <a:off x="609600" y="2374900"/>
            <a:ext cx="10972800" cy="584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09600" y="2374900"/>
            <a:ext cx="63500" cy="584200"/>
          </a:xfrm>
          <a:prstGeom prst="rect">
            <a:avLst/>
          </a:prstGeom>
          <a:solidFill>
            <a:srgbClr val="FFD447"/>
          </a:solidFill>
          <a:ln w="12700">
            <a:solidFill>
              <a:srgbClr val="FFD447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87400" y="2540000"/>
            <a:ext cx="1181100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400" b="1" dirty="0">
                <a:solidFill>
                  <a:srgbClr val="15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Go-1</a:t>
            </a:r>
            <a:endParaRPr lang="ru-RU" sz="1400" dirty="0"/>
          </a:p>
        </p:txBody>
      </p:sp>
      <p:sp>
        <p:nvSpPr>
          <p:cNvPr id="16" name="Text 13"/>
          <p:cNvSpPr/>
          <p:nvPr/>
        </p:nvSpPr>
        <p:spPr>
          <a:xfrm>
            <a:off x="2070100" y="2540000"/>
            <a:ext cx="39751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600" b="1" dirty="0">
                <a:solidFill>
                  <a:srgbClr val="15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Планировщик</a:t>
            </a:r>
            <a:endParaRPr lang="ru-RU" sz="1600" dirty="0"/>
          </a:p>
        </p:txBody>
      </p:sp>
      <p:sp>
        <p:nvSpPr>
          <p:cNvPr id="17" name="Text 14"/>
          <p:cNvSpPr/>
          <p:nvPr/>
        </p:nvSpPr>
        <p:spPr>
          <a:xfrm>
            <a:off x="6210300" y="2552700"/>
            <a:ext cx="5207000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300" dirty="0">
                <a:solidFill>
                  <a:srgbClr val="15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Назначения, расписание, причины неназначения</a:t>
            </a:r>
            <a:endParaRPr lang="ru-RU" sz="1300" dirty="0"/>
          </a:p>
        </p:txBody>
      </p:sp>
      <p:sp>
        <p:nvSpPr>
          <p:cNvPr id="18" name="Shape 15"/>
          <p:cNvSpPr/>
          <p:nvPr/>
        </p:nvSpPr>
        <p:spPr>
          <a:xfrm>
            <a:off x="609600" y="3048000"/>
            <a:ext cx="10972800" cy="584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09600" y="3048000"/>
            <a:ext cx="63500" cy="584200"/>
          </a:xfrm>
          <a:prstGeom prst="rect">
            <a:avLst/>
          </a:prstGeom>
          <a:solidFill>
            <a:srgbClr val="60CDBD"/>
          </a:solidFill>
          <a:ln w="12700">
            <a:solidFill>
              <a:srgbClr val="60CDBD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87400" y="3213100"/>
            <a:ext cx="1181100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400" b="1" dirty="0">
                <a:solidFill>
                  <a:srgbClr val="15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Go-2</a:t>
            </a:r>
            <a:endParaRPr lang="ru-RU" sz="1400" dirty="0"/>
          </a:p>
        </p:txBody>
      </p:sp>
      <p:sp>
        <p:nvSpPr>
          <p:cNvPr id="21" name="Text 18"/>
          <p:cNvSpPr/>
          <p:nvPr/>
        </p:nvSpPr>
        <p:spPr>
          <a:xfrm>
            <a:off x="2070100" y="3213100"/>
            <a:ext cx="39751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600" b="1" dirty="0">
                <a:solidFill>
                  <a:srgbClr val="15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Данные и инфраструктура</a:t>
            </a:r>
            <a:endParaRPr lang="ru-RU" sz="1600" dirty="0"/>
          </a:p>
        </p:txBody>
      </p:sp>
      <p:sp>
        <p:nvSpPr>
          <p:cNvPr id="22" name="Text 19"/>
          <p:cNvSpPr/>
          <p:nvPr/>
        </p:nvSpPr>
        <p:spPr>
          <a:xfrm>
            <a:off x="6210300" y="3225800"/>
            <a:ext cx="5207000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300" dirty="0">
                <a:solidFill>
                  <a:srgbClr val="15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Импорт, инженеры, API, хранение, сборка</a:t>
            </a:r>
            <a:endParaRPr lang="ru-RU" sz="1300" dirty="0"/>
          </a:p>
        </p:txBody>
      </p:sp>
      <p:sp>
        <p:nvSpPr>
          <p:cNvPr id="23" name="Shape 20"/>
          <p:cNvSpPr/>
          <p:nvPr/>
        </p:nvSpPr>
        <p:spPr>
          <a:xfrm>
            <a:off x="609600" y="3721100"/>
            <a:ext cx="10972800" cy="584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09600" y="3721100"/>
            <a:ext cx="63500" cy="584200"/>
          </a:xfrm>
          <a:prstGeom prst="rect">
            <a:avLst/>
          </a:prstGeom>
          <a:solidFill>
            <a:srgbClr val="87ADEC"/>
          </a:solidFill>
          <a:ln w="12700">
            <a:solidFill>
              <a:srgbClr val="87ADEC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87400" y="3886200"/>
            <a:ext cx="1181100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400" b="1" dirty="0">
                <a:solidFill>
                  <a:srgbClr val="15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Go-3</a:t>
            </a:r>
            <a:endParaRPr lang="ru-RU" sz="1400" dirty="0"/>
          </a:p>
        </p:txBody>
      </p:sp>
      <p:sp>
        <p:nvSpPr>
          <p:cNvPr id="26" name="Text 23"/>
          <p:cNvSpPr/>
          <p:nvPr/>
        </p:nvSpPr>
        <p:spPr>
          <a:xfrm>
            <a:off x="2070100" y="3886200"/>
            <a:ext cx="39751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600" b="1" dirty="0">
                <a:solidFill>
                  <a:srgbClr val="15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Геоданные</a:t>
            </a:r>
            <a:endParaRPr lang="ru-RU" sz="1600" dirty="0"/>
          </a:p>
        </p:txBody>
      </p:sp>
      <p:sp>
        <p:nvSpPr>
          <p:cNvPr id="27" name="Text 24"/>
          <p:cNvSpPr/>
          <p:nvPr/>
        </p:nvSpPr>
        <p:spPr>
          <a:xfrm>
            <a:off x="6210300" y="3898900"/>
            <a:ext cx="5207000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300" dirty="0">
                <a:solidFill>
                  <a:srgbClr val="15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Координаты, дорожные матрицы, геометрия</a:t>
            </a:r>
            <a:endParaRPr lang="ru-RU" sz="1300" dirty="0"/>
          </a:p>
        </p:txBody>
      </p:sp>
      <p:sp>
        <p:nvSpPr>
          <p:cNvPr id="28" name="Shape 25"/>
          <p:cNvSpPr/>
          <p:nvPr/>
        </p:nvSpPr>
        <p:spPr>
          <a:xfrm>
            <a:off x="609600" y="4394200"/>
            <a:ext cx="10972800" cy="584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09600" y="4394200"/>
            <a:ext cx="63500" cy="584200"/>
          </a:xfrm>
          <a:prstGeom prst="rect">
            <a:avLst/>
          </a:prstGeom>
          <a:solidFill>
            <a:srgbClr val="B6A0E6"/>
          </a:solidFill>
          <a:ln w="12700">
            <a:solidFill>
              <a:srgbClr val="B6A0E6">
                <a:alpha val="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87400" y="4559300"/>
            <a:ext cx="1181100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400" b="1" dirty="0">
                <a:solidFill>
                  <a:srgbClr val="15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Go-4</a:t>
            </a:r>
            <a:endParaRPr lang="ru-RU" sz="1400" dirty="0"/>
          </a:p>
        </p:txBody>
      </p:sp>
      <p:sp>
        <p:nvSpPr>
          <p:cNvPr id="31" name="Text 28"/>
          <p:cNvSpPr/>
          <p:nvPr/>
        </p:nvSpPr>
        <p:spPr>
          <a:xfrm>
            <a:off x="2070100" y="4559300"/>
            <a:ext cx="39751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600" b="1" dirty="0">
                <a:solidFill>
                  <a:srgbClr val="15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Управление планами</a:t>
            </a:r>
            <a:endParaRPr lang="ru-RU" sz="1600" dirty="0"/>
          </a:p>
        </p:txBody>
      </p:sp>
      <p:sp>
        <p:nvSpPr>
          <p:cNvPr id="32" name="Text 29"/>
          <p:cNvSpPr/>
          <p:nvPr/>
        </p:nvSpPr>
        <p:spPr>
          <a:xfrm>
            <a:off x="6210300" y="4572000"/>
            <a:ext cx="5207000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300" dirty="0">
                <a:solidFill>
                  <a:srgbClr val="15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Расчёт, события, проверка, метрики и изменения</a:t>
            </a:r>
            <a:endParaRPr lang="ru-RU" sz="1300" dirty="0"/>
          </a:p>
        </p:txBody>
      </p:sp>
      <p:sp>
        <p:nvSpPr>
          <p:cNvPr id="33" name="Shape 30"/>
          <p:cNvSpPr/>
          <p:nvPr/>
        </p:nvSpPr>
        <p:spPr>
          <a:xfrm>
            <a:off x="609600" y="5067300"/>
            <a:ext cx="10972800" cy="584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09600" y="5067300"/>
            <a:ext cx="63500" cy="584200"/>
          </a:xfrm>
          <a:prstGeom prst="rect">
            <a:avLst/>
          </a:prstGeom>
          <a:solidFill>
            <a:srgbClr val="F19B83"/>
          </a:solidFill>
          <a:ln w="12700">
            <a:solidFill>
              <a:srgbClr val="F19B83">
                <a:alpha val="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87400" y="5232400"/>
            <a:ext cx="1181100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400" b="1" dirty="0">
                <a:solidFill>
                  <a:srgbClr val="15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ru-RU" sz="1400" dirty="0"/>
          </a:p>
        </p:txBody>
      </p:sp>
      <p:sp>
        <p:nvSpPr>
          <p:cNvPr id="36" name="Text 33"/>
          <p:cNvSpPr/>
          <p:nvPr/>
        </p:nvSpPr>
        <p:spPr>
          <a:xfrm>
            <a:off x="2070100" y="5232400"/>
            <a:ext cx="39751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600" b="1" dirty="0">
                <a:solidFill>
                  <a:srgbClr val="15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Рабочее место диспетчера</a:t>
            </a:r>
            <a:endParaRPr lang="ru-RU" sz="1600" dirty="0"/>
          </a:p>
        </p:txBody>
      </p:sp>
      <p:sp>
        <p:nvSpPr>
          <p:cNvPr id="37" name="Text 34"/>
          <p:cNvSpPr/>
          <p:nvPr/>
        </p:nvSpPr>
        <p:spPr>
          <a:xfrm>
            <a:off x="6210300" y="5245100"/>
            <a:ext cx="5207000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300" dirty="0">
                <a:solidFill>
                  <a:srgbClr val="15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Формы, карта, расписание, заявки, сравнение</a:t>
            </a:r>
            <a:endParaRPr lang="ru-RU" sz="1300" dirty="0"/>
          </a:p>
        </p:txBody>
      </p:sp>
      <p:sp>
        <p:nvSpPr>
          <p:cNvPr id="38" name="Text 35"/>
          <p:cNvSpPr/>
          <p:nvPr/>
        </p:nvSpPr>
        <p:spPr>
          <a:xfrm>
            <a:off x="609600" y="5994400"/>
            <a:ext cx="10972800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400" dirty="0">
                <a:solidFill>
                  <a:srgbClr val="6975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Основа: F1–F7. Дополнения D1–D3 — после совместной работы основных блоков.</a:t>
            </a:r>
            <a:endParaRPr lang="ru-RU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00" y="317500"/>
            <a:ext cx="8636000" cy="158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000" b="1" dirty="0">
                <a:solidFill>
                  <a:srgbClr val="6975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 РАЗРАБОТКИ</a:t>
            </a:r>
            <a:endParaRPr lang="ru-RU" sz="1000" dirty="0"/>
          </a:p>
        </p:txBody>
      </p:sp>
      <p:sp>
        <p:nvSpPr>
          <p:cNvPr id="4" name="Text 1"/>
          <p:cNvSpPr/>
          <p:nvPr/>
        </p:nvSpPr>
        <p:spPr>
          <a:xfrm>
            <a:off x="609600" y="673100"/>
            <a:ext cx="10972800" cy="492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3100" b="1" dirty="0">
                <a:solidFill>
                  <a:srgbClr val="15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Go-1 — Планировщик</a:t>
            </a:r>
            <a:endParaRPr lang="ru-RU" sz="3100" dirty="0"/>
          </a:p>
        </p:txBody>
      </p:sp>
      <p:sp>
        <p:nvSpPr>
          <p:cNvPr id="5" name="Text 2"/>
          <p:cNvSpPr/>
          <p:nvPr/>
        </p:nvSpPr>
        <p:spPr>
          <a:xfrm>
            <a:off x="609600" y="1257300"/>
            <a:ext cx="10972800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400" dirty="0">
                <a:solidFill>
                  <a:srgbClr val="6975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Planner.Solve</a:t>
            </a:r>
            <a:endParaRPr lang="ru-RU" sz="1400" dirty="0"/>
          </a:p>
        </p:txBody>
      </p:sp>
      <p:sp>
        <p:nvSpPr>
          <p:cNvPr id="6" name="Shape 3"/>
          <p:cNvSpPr/>
          <p:nvPr/>
        </p:nvSpPr>
        <p:spPr>
          <a:xfrm>
            <a:off x="609600" y="6413500"/>
            <a:ext cx="10972800" cy="0"/>
          </a:xfrm>
          <a:prstGeom prst="line">
            <a:avLst/>
          </a:prstGeom>
          <a:noFill/>
          <a:ln w="8890">
            <a:solidFill>
              <a:srgbClr val="DDDCD6"/>
            </a:solidFill>
            <a:prstDash val="solid"/>
            <a:headEnd type="none"/>
            <a:tailEnd type="none"/>
          </a:ln>
        </p:spPr>
      </p:sp>
      <p:sp>
        <p:nvSpPr>
          <p:cNvPr id="7" name="Text 4"/>
          <p:cNvSpPr/>
          <p:nvPr/>
        </p:nvSpPr>
        <p:spPr>
          <a:xfrm>
            <a:off x="609600" y="6565900"/>
            <a:ext cx="99695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900" dirty="0">
                <a:solidFill>
                  <a:srgbClr val="6975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docs/contracts/planner.md</a:t>
            </a:r>
            <a:endParaRPr lang="ru-RU" sz="900" dirty="0"/>
          </a:p>
        </p:txBody>
      </p:sp>
      <p:sp>
        <p:nvSpPr>
          <p:cNvPr id="8" name="Text 5"/>
          <p:cNvSpPr/>
          <p:nvPr/>
        </p:nvSpPr>
        <p:spPr>
          <a:xfrm>
            <a:off x="10769600" y="6540500"/>
            <a:ext cx="812800" cy="158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ru-RU" altLang="en-US" sz="1000" b="1" dirty="0">
                <a:solidFill>
                  <a:srgbClr val="6975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10</a:t>
            </a:r>
            <a:endParaRPr lang="ru-RU" sz="1000" dirty="0"/>
          </a:p>
        </p:txBody>
      </p:sp>
      <p:sp>
        <p:nvSpPr>
          <p:cNvPr id="9" name="Shape 6"/>
          <p:cNvSpPr/>
          <p:nvPr/>
        </p:nvSpPr>
        <p:spPr>
          <a:xfrm>
            <a:off x="609600" y="1727200"/>
            <a:ext cx="6565900" cy="3505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09600" y="1727200"/>
            <a:ext cx="63500" cy="3505200"/>
          </a:xfrm>
          <a:prstGeom prst="rect">
            <a:avLst/>
          </a:prstGeom>
          <a:solidFill>
            <a:srgbClr val="FFD447"/>
          </a:solidFill>
          <a:ln w="12700">
            <a:solidFill>
              <a:srgbClr val="FFD447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38200" y="1917700"/>
            <a:ext cx="6032500" cy="158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000" b="1" dirty="0">
                <a:solidFill>
                  <a:srgbClr val="6975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ЗАДАЧИ</a:t>
            </a:r>
            <a:endParaRPr lang="ru-RU" sz="1000" dirty="0"/>
          </a:p>
        </p:txBody>
      </p:sp>
      <p:sp>
        <p:nvSpPr>
          <p:cNvPr id="12" name="Text 9"/>
          <p:cNvSpPr/>
          <p:nvPr/>
        </p:nvSpPr>
        <p:spPr>
          <a:xfrm>
            <a:off x="838200" y="2247900"/>
            <a:ext cx="60706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600" b="1" dirty="0">
                <a:solidFill>
                  <a:srgbClr val="15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Назначение заявок</a:t>
            </a:r>
            <a:endParaRPr lang="ru-RU" sz="1600" dirty="0"/>
          </a:p>
        </p:txBody>
      </p:sp>
      <p:sp>
        <p:nvSpPr>
          <p:cNvPr id="13" name="Text 10"/>
          <p:cNvSpPr/>
          <p:nvPr/>
        </p:nvSpPr>
        <p:spPr>
          <a:xfrm>
            <a:off x="838200" y="2552700"/>
            <a:ext cx="6070600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300" dirty="0">
                <a:solidFill>
                  <a:srgbClr val="6975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Выбрать инженера, порядок визитов и время работ.</a:t>
            </a:r>
            <a:endParaRPr lang="ru-RU" sz="1300" dirty="0"/>
          </a:p>
        </p:txBody>
      </p:sp>
      <p:sp>
        <p:nvSpPr>
          <p:cNvPr id="14" name="Text 11"/>
          <p:cNvSpPr/>
          <p:nvPr/>
        </p:nvSpPr>
        <p:spPr>
          <a:xfrm>
            <a:off x="838200" y="2971800"/>
            <a:ext cx="60706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600" b="1" dirty="0">
                <a:solidFill>
                  <a:srgbClr val="15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Ограничения</a:t>
            </a:r>
            <a:endParaRPr lang="ru-RU" sz="1600" dirty="0"/>
          </a:p>
        </p:txBody>
      </p:sp>
      <p:sp>
        <p:nvSpPr>
          <p:cNvPr id="15" name="Text 12"/>
          <p:cNvSpPr/>
          <p:nvPr/>
        </p:nvSpPr>
        <p:spPr>
          <a:xfrm>
            <a:off x="838200" y="3276600"/>
            <a:ext cx="6070600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300" dirty="0">
                <a:solidFill>
                  <a:srgbClr val="6975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Учесть навыки, транспорт, окна, смены и время в пути.</a:t>
            </a:r>
            <a:endParaRPr lang="ru-RU" sz="1300" dirty="0"/>
          </a:p>
        </p:txBody>
      </p:sp>
      <p:sp>
        <p:nvSpPr>
          <p:cNvPr id="16" name="Text 13"/>
          <p:cNvSpPr/>
          <p:nvPr/>
        </p:nvSpPr>
        <p:spPr>
          <a:xfrm>
            <a:off x="838200" y="3695700"/>
            <a:ext cx="60706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600" b="1" dirty="0">
                <a:solidFill>
                  <a:srgbClr val="15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Два режима расчёта</a:t>
            </a:r>
            <a:endParaRPr lang="ru-RU" sz="1600" dirty="0"/>
          </a:p>
        </p:txBody>
      </p:sp>
      <p:sp>
        <p:nvSpPr>
          <p:cNvPr id="17" name="Text 14"/>
          <p:cNvSpPr/>
          <p:nvPr/>
        </p:nvSpPr>
        <p:spPr>
          <a:xfrm>
            <a:off x="838200" y="4000500"/>
            <a:ext cx="6070600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300" dirty="0">
                <a:solidFill>
                  <a:srgbClr val="6975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Реализовать базовый алгоритм и оптимизацию.</a:t>
            </a:r>
            <a:endParaRPr lang="ru-RU" sz="1300" dirty="0"/>
          </a:p>
        </p:txBody>
      </p:sp>
      <p:sp>
        <p:nvSpPr>
          <p:cNvPr id="18" name="Text 15"/>
          <p:cNvSpPr/>
          <p:nvPr/>
        </p:nvSpPr>
        <p:spPr>
          <a:xfrm>
            <a:off x="838200" y="4419600"/>
            <a:ext cx="60706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600" b="1" dirty="0">
                <a:solidFill>
                  <a:srgbClr val="15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Неназначенные заявки</a:t>
            </a:r>
            <a:endParaRPr lang="ru-RU" sz="1600" dirty="0"/>
          </a:p>
        </p:txBody>
      </p:sp>
      <p:sp>
        <p:nvSpPr>
          <p:cNvPr id="19" name="Text 16"/>
          <p:cNvSpPr/>
          <p:nvPr/>
        </p:nvSpPr>
        <p:spPr>
          <a:xfrm>
            <a:off x="838200" y="4724400"/>
            <a:ext cx="6070600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300" dirty="0">
                <a:solidFill>
                  <a:srgbClr val="6975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Вернуть причины; если размещение не найдено — указать это.</a:t>
            </a:r>
            <a:endParaRPr lang="ru-RU" sz="1300" dirty="0"/>
          </a:p>
        </p:txBody>
      </p:sp>
      <p:sp>
        <p:nvSpPr>
          <p:cNvPr id="20" name="Shape 17"/>
          <p:cNvSpPr/>
          <p:nvPr/>
        </p:nvSpPr>
        <p:spPr>
          <a:xfrm>
            <a:off x="7378700" y="1727200"/>
            <a:ext cx="4203700" cy="3505200"/>
          </a:xfrm>
          <a:prstGeom prst="rect">
            <a:avLst/>
          </a:prstGeom>
          <a:solidFill>
            <a:srgbClr val="E7ECEF"/>
          </a:solidFill>
          <a:ln w="12700">
            <a:solidFill>
              <a:srgbClr val="E7ECEF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594600" y="1943100"/>
            <a:ext cx="3759200" cy="269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700" b="1" dirty="0">
                <a:solidFill>
                  <a:srgbClr val="15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РЕАЛИЗУЕТ</a:t>
            </a:r>
            <a:endParaRPr lang="ru-RU" sz="1700" dirty="0"/>
          </a:p>
        </p:txBody>
      </p:sp>
      <p:sp>
        <p:nvSpPr>
          <p:cNvPr id="22" name="Text 19"/>
          <p:cNvSpPr/>
          <p:nvPr/>
        </p:nvSpPr>
        <p:spPr>
          <a:xfrm>
            <a:off x="7594600" y="2336800"/>
            <a:ext cx="375920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500" dirty="0">
                <a:solidFill>
                  <a:srgbClr val="15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Planner.Solve → SolveResult: маршруты,</a:t>
            </a:r>
            <a:endParaRPr lang="ru-RU" sz="1500" dirty="0"/>
          </a:p>
        </p:txBody>
      </p:sp>
      <p:sp>
        <p:nvSpPr>
          <p:cNvPr id="23" name="Text 20"/>
          <p:cNvSpPr/>
          <p:nvPr/>
        </p:nvSpPr>
        <p:spPr>
          <a:xfrm>
            <a:off x="7594600" y="2561590"/>
            <a:ext cx="375920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500" dirty="0">
                <a:solidFill>
                  <a:srgbClr val="15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расписание, неназначенные заявки и</a:t>
            </a:r>
            <a:endParaRPr lang="ru-RU" sz="1500" dirty="0"/>
          </a:p>
        </p:txBody>
      </p:sp>
      <p:sp>
        <p:nvSpPr>
          <p:cNvPr id="24" name="Text 21"/>
          <p:cNvSpPr/>
          <p:nvPr/>
        </p:nvSpPr>
        <p:spPr>
          <a:xfrm>
            <a:off x="7594600" y="2786380"/>
            <a:ext cx="375920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500" dirty="0">
                <a:solidFill>
                  <a:srgbClr val="15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статус поиска.</a:t>
            </a:r>
            <a:endParaRPr lang="ru-RU" sz="1500" dirty="0"/>
          </a:p>
        </p:txBody>
      </p:sp>
      <p:sp>
        <p:nvSpPr>
          <p:cNvPr id="25" name="Shape 22"/>
          <p:cNvSpPr/>
          <p:nvPr/>
        </p:nvSpPr>
        <p:spPr>
          <a:xfrm>
            <a:off x="7594600" y="3390900"/>
            <a:ext cx="3759200" cy="0"/>
          </a:xfrm>
          <a:prstGeom prst="line">
            <a:avLst/>
          </a:prstGeom>
          <a:noFill/>
          <a:ln w="10160">
            <a:solidFill>
              <a:srgbClr val="C8D0D6"/>
            </a:solidFill>
            <a:prstDash val="solid"/>
            <a:headEnd type="none"/>
            <a:tailEnd type="none"/>
          </a:ln>
        </p:spPr>
      </p:sp>
      <p:sp>
        <p:nvSpPr>
          <p:cNvPr id="26" name="Text 23"/>
          <p:cNvSpPr/>
          <p:nvPr/>
        </p:nvSpPr>
        <p:spPr>
          <a:xfrm>
            <a:off x="7594600" y="3606800"/>
            <a:ext cx="3759200" cy="269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700" b="1" dirty="0">
                <a:solidFill>
                  <a:srgbClr val="15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ИСПОЛЬЗУЕТ ОТ ДРУГИХ</a:t>
            </a:r>
            <a:endParaRPr lang="ru-RU" sz="1700" dirty="0"/>
          </a:p>
        </p:txBody>
      </p:sp>
      <p:sp>
        <p:nvSpPr>
          <p:cNvPr id="27" name="Text 24"/>
          <p:cNvSpPr/>
          <p:nvPr/>
        </p:nvSpPr>
        <p:spPr>
          <a:xfrm>
            <a:off x="7594600" y="4000500"/>
            <a:ext cx="375920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500" dirty="0">
                <a:solidFill>
                  <a:srgbClr val="15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 вызовов модулей Go. Получает от</a:t>
            </a:r>
            <a:endParaRPr lang="ru-RU" sz="1500" dirty="0"/>
          </a:p>
        </p:txBody>
      </p:sp>
      <p:sp>
        <p:nvSpPr>
          <p:cNvPr id="28" name="Text 25"/>
          <p:cNvSpPr/>
          <p:nvPr/>
        </p:nvSpPr>
        <p:spPr>
          <a:xfrm>
            <a:off x="7594600" y="4225290"/>
            <a:ext cx="375920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500" dirty="0">
                <a:solidFill>
                  <a:srgbClr val="15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Go-4 SolveRequest, включая TravelMatrix</a:t>
            </a:r>
            <a:endParaRPr lang="ru-RU" sz="1500" dirty="0"/>
          </a:p>
        </p:txBody>
      </p:sp>
      <p:sp>
        <p:nvSpPr>
          <p:cNvPr id="29" name="Text 26"/>
          <p:cNvSpPr/>
          <p:nvPr/>
        </p:nvSpPr>
        <p:spPr>
          <a:xfrm>
            <a:off x="7594600" y="4450080"/>
            <a:ext cx="375920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500" dirty="0">
                <a:solidFill>
                  <a:srgbClr val="15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Go-3.</a:t>
            </a:r>
            <a:endParaRPr lang="ru-RU" sz="1500" dirty="0"/>
          </a:p>
        </p:txBody>
      </p:sp>
      <p:sp>
        <p:nvSpPr>
          <p:cNvPr id="30" name="Text 27"/>
          <p:cNvSpPr/>
          <p:nvPr/>
        </p:nvSpPr>
        <p:spPr>
          <a:xfrm>
            <a:off x="609600" y="5461000"/>
            <a:ext cx="10972800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400" b="1" dirty="0">
                <a:solidFill>
                  <a:srgbClr val="15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Вызывается Go-4 через Planner.Solve.</a:t>
            </a:r>
            <a:endParaRPr lang="ru-RU" sz="1400" dirty="0"/>
          </a:p>
        </p:txBody>
      </p:sp>
      <p:sp>
        <p:nvSpPr>
          <p:cNvPr id="31" name="Text 28"/>
          <p:cNvSpPr/>
          <p:nvPr/>
        </p:nvSpPr>
        <p:spPr>
          <a:xfrm>
            <a:off x="609600" y="5905500"/>
            <a:ext cx="10972800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400" dirty="0">
                <a:solidFill>
                  <a:srgbClr val="6975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старта: несколько заявок, два инженера и фиксированная матрица.</a:t>
            </a:r>
            <a:endParaRPr lang="ru-RU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00" y="317500"/>
            <a:ext cx="8636000" cy="158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000" b="1" dirty="0">
                <a:solidFill>
                  <a:srgbClr val="6975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 РАЗРАБОТКИ</a:t>
            </a:r>
            <a:endParaRPr lang="ru-RU" sz="1000" dirty="0"/>
          </a:p>
        </p:txBody>
      </p:sp>
      <p:sp>
        <p:nvSpPr>
          <p:cNvPr id="4" name="Text 1"/>
          <p:cNvSpPr/>
          <p:nvPr/>
        </p:nvSpPr>
        <p:spPr>
          <a:xfrm>
            <a:off x="609600" y="673100"/>
            <a:ext cx="10972800" cy="492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3100" b="1" dirty="0">
                <a:solidFill>
                  <a:srgbClr val="15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Go-2 — Данные и инфраструктура</a:t>
            </a:r>
            <a:endParaRPr lang="ru-RU" sz="3100" dirty="0"/>
          </a:p>
        </p:txBody>
      </p:sp>
      <p:sp>
        <p:nvSpPr>
          <p:cNvPr id="5" name="Text 2"/>
          <p:cNvSpPr/>
          <p:nvPr/>
        </p:nvSpPr>
        <p:spPr>
          <a:xfrm>
            <a:off x="609600" y="1257300"/>
            <a:ext cx="10972800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400" dirty="0">
                <a:solidFill>
                  <a:srgbClr val="6975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DataStore + HTTP API</a:t>
            </a:r>
            <a:endParaRPr lang="ru-RU" sz="1400" dirty="0"/>
          </a:p>
        </p:txBody>
      </p:sp>
      <p:sp>
        <p:nvSpPr>
          <p:cNvPr id="6" name="Shape 3"/>
          <p:cNvSpPr/>
          <p:nvPr/>
        </p:nvSpPr>
        <p:spPr>
          <a:xfrm>
            <a:off x="609600" y="6413500"/>
            <a:ext cx="10972800" cy="0"/>
          </a:xfrm>
          <a:prstGeom prst="line">
            <a:avLst/>
          </a:prstGeom>
          <a:noFill/>
          <a:ln w="8890">
            <a:solidFill>
              <a:srgbClr val="DDDCD6"/>
            </a:solidFill>
            <a:prstDash val="solid"/>
            <a:headEnd type="none"/>
            <a:tailEnd type="none"/>
          </a:ln>
        </p:spPr>
      </p:sp>
      <p:sp>
        <p:nvSpPr>
          <p:cNvPr id="7" name="Text 4"/>
          <p:cNvSpPr/>
          <p:nvPr/>
        </p:nvSpPr>
        <p:spPr>
          <a:xfrm>
            <a:off x="609600" y="6565900"/>
            <a:ext cx="99695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900" dirty="0">
                <a:solidFill>
                  <a:srgbClr val="6975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docs/contracts/data.md</a:t>
            </a:r>
            <a:endParaRPr lang="ru-RU" sz="900" dirty="0"/>
          </a:p>
        </p:txBody>
      </p:sp>
      <p:sp>
        <p:nvSpPr>
          <p:cNvPr id="8" name="Text 5"/>
          <p:cNvSpPr/>
          <p:nvPr/>
        </p:nvSpPr>
        <p:spPr>
          <a:xfrm>
            <a:off x="10769600" y="6540500"/>
            <a:ext cx="812800" cy="158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ru-RU" altLang="en-US" sz="1000" b="1" dirty="0">
                <a:solidFill>
                  <a:srgbClr val="6975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10</a:t>
            </a:r>
            <a:endParaRPr lang="ru-RU" sz="1000" dirty="0"/>
          </a:p>
        </p:txBody>
      </p:sp>
      <p:sp>
        <p:nvSpPr>
          <p:cNvPr id="9" name="Shape 6"/>
          <p:cNvSpPr/>
          <p:nvPr/>
        </p:nvSpPr>
        <p:spPr>
          <a:xfrm>
            <a:off x="609600" y="1727200"/>
            <a:ext cx="6565900" cy="3505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09600" y="1727200"/>
            <a:ext cx="63500" cy="3505200"/>
          </a:xfrm>
          <a:prstGeom prst="rect">
            <a:avLst/>
          </a:prstGeom>
          <a:solidFill>
            <a:srgbClr val="60CDBD"/>
          </a:solidFill>
          <a:ln w="12700">
            <a:solidFill>
              <a:srgbClr val="60CDBD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38200" y="1917700"/>
            <a:ext cx="6032500" cy="158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000" b="1" dirty="0">
                <a:solidFill>
                  <a:srgbClr val="6975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ЗАДАЧИ</a:t>
            </a:r>
            <a:endParaRPr lang="ru-RU" sz="1000" dirty="0"/>
          </a:p>
        </p:txBody>
      </p:sp>
      <p:sp>
        <p:nvSpPr>
          <p:cNvPr id="12" name="Text 9"/>
          <p:cNvSpPr/>
          <p:nvPr/>
        </p:nvSpPr>
        <p:spPr>
          <a:xfrm>
            <a:off x="838200" y="2247900"/>
            <a:ext cx="60706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600" b="1" dirty="0">
                <a:solidFill>
                  <a:srgbClr val="15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Данные и импорт</a:t>
            </a:r>
            <a:endParaRPr lang="ru-RU" sz="1600" dirty="0"/>
          </a:p>
        </p:txBody>
      </p:sp>
      <p:sp>
        <p:nvSpPr>
          <p:cNvPr id="13" name="Text 10"/>
          <p:cNvSpPr/>
          <p:nvPr/>
        </p:nvSpPr>
        <p:spPr>
          <a:xfrm>
            <a:off x="838200" y="2552700"/>
            <a:ext cx="6070600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300" dirty="0">
                <a:solidFill>
                  <a:srgbClr val="6975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Заявки, инженеры, навыки, смены, транспорт и нормативы.</a:t>
            </a:r>
            <a:endParaRPr lang="ru-RU" sz="1300" dirty="0"/>
          </a:p>
        </p:txBody>
      </p:sp>
      <p:sp>
        <p:nvSpPr>
          <p:cNvPr id="14" name="Text 11"/>
          <p:cNvSpPr/>
          <p:nvPr/>
        </p:nvSpPr>
        <p:spPr>
          <a:xfrm>
            <a:off x="838200" y="2971800"/>
            <a:ext cx="60706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600" b="1" dirty="0">
                <a:solidFill>
                  <a:srgbClr val="15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Подготовка снимка</a:t>
            </a:r>
            <a:endParaRPr lang="ru-RU" sz="1600" dirty="0"/>
          </a:p>
        </p:txBody>
      </p:sp>
      <p:sp>
        <p:nvSpPr>
          <p:cNvPr id="15" name="Text 12"/>
          <p:cNvSpPr/>
          <p:nvPr/>
        </p:nvSpPr>
        <p:spPr>
          <a:xfrm>
            <a:off x="838200" y="3276600"/>
            <a:ext cx="6070600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300" dirty="0">
                <a:solidFill>
                  <a:srgbClr val="6975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Проверка, редактирование, версии данных; геокодирование через Go-3.</a:t>
            </a:r>
            <a:endParaRPr lang="ru-RU" sz="1300" dirty="0"/>
          </a:p>
        </p:txBody>
      </p:sp>
      <p:sp>
        <p:nvSpPr>
          <p:cNvPr id="16" name="Text 13"/>
          <p:cNvSpPr/>
          <p:nvPr/>
        </p:nvSpPr>
        <p:spPr>
          <a:xfrm>
            <a:off x="838200" y="3695700"/>
            <a:ext cx="60706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600" b="1" dirty="0">
                <a:solidFill>
                  <a:srgbClr val="15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и хранение</a:t>
            </a:r>
            <a:endParaRPr lang="ru-RU" sz="1600" dirty="0"/>
          </a:p>
        </p:txBody>
      </p:sp>
      <p:sp>
        <p:nvSpPr>
          <p:cNvPr id="17" name="Text 14"/>
          <p:cNvSpPr/>
          <p:nvPr/>
        </p:nvSpPr>
        <p:spPr>
          <a:xfrm>
            <a:off x="838200" y="4000500"/>
            <a:ext cx="6070600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300" dirty="0">
                <a:solidFill>
                  <a:srgbClr val="6975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Запуски расчёта, история планов, атомарное сохранение и повторы</a:t>
            </a:r>
            <a:endParaRPr lang="ru-RU" sz="1300" dirty="0"/>
          </a:p>
        </p:txBody>
      </p:sp>
      <p:sp>
        <p:nvSpPr>
          <p:cNvPr id="18" name="Text 15"/>
          <p:cNvSpPr/>
          <p:nvPr/>
        </p:nvSpPr>
        <p:spPr>
          <a:xfrm>
            <a:off x="838200" y="4195318"/>
            <a:ext cx="6070600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300" dirty="0">
                <a:solidFill>
                  <a:srgbClr val="6975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команд.</a:t>
            </a:r>
            <a:endParaRPr lang="ru-RU" sz="1300" dirty="0"/>
          </a:p>
        </p:txBody>
      </p:sp>
      <p:sp>
        <p:nvSpPr>
          <p:cNvPr id="19" name="Text 16"/>
          <p:cNvSpPr/>
          <p:nvPr/>
        </p:nvSpPr>
        <p:spPr>
          <a:xfrm>
            <a:off x="838200" y="4419600"/>
            <a:ext cx="60706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600" b="1" dirty="0">
                <a:solidFill>
                  <a:srgbClr val="15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Сборка приложения</a:t>
            </a:r>
            <a:endParaRPr lang="ru-RU" sz="1600" dirty="0"/>
          </a:p>
        </p:txBody>
      </p:sp>
      <p:sp>
        <p:nvSpPr>
          <p:cNvPr id="20" name="Text 17"/>
          <p:cNvSpPr/>
          <p:nvPr/>
        </p:nvSpPr>
        <p:spPr>
          <a:xfrm>
            <a:off x="838200" y="4724400"/>
            <a:ext cx="6070600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300" dirty="0">
                <a:solidFill>
                  <a:srgbClr val="6975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Подключение модулей, конфигурация и запуск.</a:t>
            </a:r>
            <a:endParaRPr lang="ru-RU" sz="1300" dirty="0"/>
          </a:p>
        </p:txBody>
      </p:sp>
      <p:sp>
        <p:nvSpPr>
          <p:cNvPr id="21" name="Shape 18"/>
          <p:cNvSpPr/>
          <p:nvPr/>
        </p:nvSpPr>
        <p:spPr>
          <a:xfrm>
            <a:off x="7378700" y="1727200"/>
            <a:ext cx="4203700" cy="3505200"/>
          </a:xfrm>
          <a:prstGeom prst="rect">
            <a:avLst/>
          </a:prstGeom>
          <a:solidFill>
            <a:srgbClr val="E7ECEF"/>
          </a:solidFill>
          <a:ln w="12700">
            <a:solidFill>
              <a:srgbClr val="E7ECEF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594600" y="1943100"/>
            <a:ext cx="3759200" cy="269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700" b="1" dirty="0">
                <a:solidFill>
                  <a:srgbClr val="15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РЕАЛИЗУЕТ</a:t>
            </a:r>
            <a:endParaRPr lang="ru-RU" sz="1700" dirty="0"/>
          </a:p>
        </p:txBody>
      </p:sp>
      <p:sp>
        <p:nvSpPr>
          <p:cNvPr id="23" name="Text 20"/>
          <p:cNvSpPr/>
          <p:nvPr/>
        </p:nvSpPr>
        <p:spPr>
          <a:xfrm>
            <a:off x="7594600" y="2336800"/>
            <a:ext cx="375920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500" dirty="0">
                <a:solidFill>
                  <a:srgbClr val="15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DataStore + HTTP /api/v1: импорт,</a:t>
            </a:r>
            <a:endParaRPr lang="ru-RU" sz="1500" dirty="0"/>
          </a:p>
        </p:txBody>
      </p:sp>
      <p:sp>
        <p:nvSpPr>
          <p:cNvPr id="24" name="Text 21"/>
          <p:cNvSpPr/>
          <p:nvPr/>
        </p:nvSpPr>
        <p:spPr>
          <a:xfrm>
            <a:off x="7594600" y="2561590"/>
            <a:ext cx="375920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500" dirty="0">
                <a:solidFill>
                  <a:srgbClr val="15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снимки, инженеры, Run, Plan и</a:t>
            </a:r>
            <a:endParaRPr lang="ru-RU" sz="1500" dirty="0"/>
          </a:p>
        </p:txBody>
      </p:sp>
      <p:sp>
        <p:nvSpPr>
          <p:cNvPr id="25" name="Text 22"/>
          <p:cNvSpPr/>
          <p:nvPr/>
        </p:nvSpPr>
        <p:spPr>
          <a:xfrm>
            <a:off x="7594600" y="2786380"/>
            <a:ext cx="375920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500" dirty="0">
                <a:solidFill>
                  <a:srgbClr val="15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сохранение результата.</a:t>
            </a:r>
            <a:endParaRPr lang="ru-RU" sz="1500" dirty="0"/>
          </a:p>
        </p:txBody>
      </p:sp>
      <p:sp>
        <p:nvSpPr>
          <p:cNvPr id="26" name="Shape 23"/>
          <p:cNvSpPr/>
          <p:nvPr/>
        </p:nvSpPr>
        <p:spPr>
          <a:xfrm>
            <a:off x="7594600" y="3390900"/>
            <a:ext cx="3759200" cy="0"/>
          </a:xfrm>
          <a:prstGeom prst="line">
            <a:avLst/>
          </a:prstGeom>
          <a:noFill/>
          <a:ln w="10160">
            <a:solidFill>
              <a:srgbClr val="C8D0D6"/>
            </a:solidFill>
            <a:prstDash val="solid"/>
            <a:headEnd type="none"/>
            <a:tailEnd type="none"/>
          </a:ln>
        </p:spPr>
      </p:sp>
      <p:sp>
        <p:nvSpPr>
          <p:cNvPr id="27" name="Text 24"/>
          <p:cNvSpPr/>
          <p:nvPr/>
        </p:nvSpPr>
        <p:spPr>
          <a:xfrm>
            <a:off x="7594600" y="3606800"/>
            <a:ext cx="3759200" cy="269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700" b="1" dirty="0">
                <a:solidFill>
                  <a:srgbClr val="15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ИСПОЛЬЗУЕТ ОТ ДРУГИХ</a:t>
            </a:r>
            <a:endParaRPr lang="ru-RU" sz="1700" dirty="0"/>
          </a:p>
        </p:txBody>
      </p:sp>
      <p:sp>
        <p:nvSpPr>
          <p:cNvPr id="28" name="Text 25"/>
          <p:cNvSpPr/>
          <p:nvPr/>
        </p:nvSpPr>
        <p:spPr>
          <a:xfrm>
            <a:off x="7594600" y="4000500"/>
            <a:ext cx="375920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500" dirty="0">
                <a:solidFill>
                  <a:srgbClr val="15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PlanService.Build / Replan (Go-4);</a:t>
            </a:r>
            <a:endParaRPr lang="ru-RU" sz="1500" dirty="0"/>
          </a:p>
        </p:txBody>
      </p:sp>
      <p:sp>
        <p:nvSpPr>
          <p:cNvPr id="29" name="Text 26"/>
          <p:cNvSpPr/>
          <p:nvPr/>
        </p:nvSpPr>
        <p:spPr>
          <a:xfrm>
            <a:off x="7594600" y="4225290"/>
            <a:ext cx="375920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500" dirty="0">
                <a:solidFill>
                  <a:srgbClr val="15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GeoService.Geocode (Go-3).</a:t>
            </a:r>
            <a:endParaRPr lang="ru-RU" sz="1500" dirty="0"/>
          </a:p>
        </p:txBody>
      </p:sp>
      <p:sp>
        <p:nvSpPr>
          <p:cNvPr id="30" name="Text 27"/>
          <p:cNvSpPr/>
          <p:nvPr/>
        </p:nvSpPr>
        <p:spPr>
          <a:xfrm>
            <a:off x="609600" y="5461000"/>
            <a:ext cx="10972800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400" b="1" dirty="0">
                <a:solidFill>
                  <a:srgbClr val="15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использует HTTP /api/v1; Go-2 собирает приложение.</a:t>
            </a:r>
            <a:endParaRPr lang="ru-RU" sz="1400" dirty="0"/>
          </a:p>
        </p:txBody>
      </p:sp>
      <p:sp>
        <p:nvSpPr>
          <p:cNvPr id="31" name="Text 28"/>
          <p:cNvSpPr/>
          <p:nvPr/>
        </p:nvSpPr>
        <p:spPr>
          <a:xfrm>
            <a:off x="609600" y="5905500"/>
            <a:ext cx="10972800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400" dirty="0">
                <a:solidFill>
                  <a:srgbClr val="6975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старта: заглушка PlanService и подготовленные координаты.</a:t>
            </a:r>
            <a:endParaRPr lang="ru-RU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00" y="317500"/>
            <a:ext cx="8636000" cy="158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000" b="1" dirty="0">
                <a:solidFill>
                  <a:srgbClr val="6975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 РАЗРАБОТКИ</a:t>
            </a:r>
            <a:endParaRPr lang="ru-RU" sz="1000" dirty="0"/>
          </a:p>
        </p:txBody>
      </p:sp>
      <p:sp>
        <p:nvSpPr>
          <p:cNvPr id="4" name="Text 1"/>
          <p:cNvSpPr/>
          <p:nvPr/>
        </p:nvSpPr>
        <p:spPr>
          <a:xfrm>
            <a:off x="609600" y="673100"/>
            <a:ext cx="10972800" cy="492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3100" b="1" dirty="0">
                <a:solidFill>
                  <a:srgbClr val="15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Go-3 — Геоданные</a:t>
            </a:r>
            <a:endParaRPr lang="ru-RU" sz="3100" dirty="0"/>
          </a:p>
        </p:txBody>
      </p:sp>
      <p:sp>
        <p:nvSpPr>
          <p:cNvPr id="5" name="Text 2"/>
          <p:cNvSpPr/>
          <p:nvPr/>
        </p:nvSpPr>
        <p:spPr>
          <a:xfrm>
            <a:off x="609600" y="1257300"/>
            <a:ext cx="10972800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400" dirty="0">
                <a:solidFill>
                  <a:srgbClr val="6975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GeoService</a:t>
            </a:r>
            <a:endParaRPr lang="ru-RU" sz="1400" dirty="0"/>
          </a:p>
        </p:txBody>
      </p:sp>
      <p:sp>
        <p:nvSpPr>
          <p:cNvPr id="6" name="Shape 3"/>
          <p:cNvSpPr/>
          <p:nvPr/>
        </p:nvSpPr>
        <p:spPr>
          <a:xfrm>
            <a:off x="609600" y="6413500"/>
            <a:ext cx="10972800" cy="0"/>
          </a:xfrm>
          <a:prstGeom prst="line">
            <a:avLst/>
          </a:prstGeom>
          <a:noFill/>
          <a:ln w="8890">
            <a:solidFill>
              <a:srgbClr val="DDDCD6"/>
            </a:solidFill>
            <a:prstDash val="solid"/>
            <a:headEnd type="none"/>
            <a:tailEnd type="none"/>
          </a:ln>
        </p:spPr>
      </p:sp>
      <p:sp>
        <p:nvSpPr>
          <p:cNvPr id="7" name="Text 4"/>
          <p:cNvSpPr/>
          <p:nvPr/>
        </p:nvSpPr>
        <p:spPr>
          <a:xfrm>
            <a:off x="609600" y="6565900"/>
            <a:ext cx="99695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900" dirty="0">
                <a:solidFill>
                  <a:srgbClr val="6975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docs/contracts/geo.md</a:t>
            </a:r>
            <a:endParaRPr lang="ru-RU" sz="900" dirty="0"/>
          </a:p>
        </p:txBody>
      </p:sp>
      <p:sp>
        <p:nvSpPr>
          <p:cNvPr id="8" name="Text 5"/>
          <p:cNvSpPr/>
          <p:nvPr/>
        </p:nvSpPr>
        <p:spPr>
          <a:xfrm>
            <a:off x="10769600" y="6540500"/>
            <a:ext cx="812800" cy="158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ru-RU" altLang="en-US" sz="1000" b="1" dirty="0">
                <a:solidFill>
                  <a:srgbClr val="6975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10</a:t>
            </a:r>
            <a:endParaRPr lang="ru-RU" sz="1000" dirty="0"/>
          </a:p>
        </p:txBody>
      </p:sp>
      <p:sp>
        <p:nvSpPr>
          <p:cNvPr id="9" name="Shape 6"/>
          <p:cNvSpPr/>
          <p:nvPr/>
        </p:nvSpPr>
        <p:spPr>
          <a:xfrm>
            <a:off x="609600" y="1727200"/>
            <a:ext cx="6565900" cy="3505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09600" y="1727200"/>
            <a:ext cx="63500" cy="3505200"/>
          </a:xfrm>
          <a:prstGeom prst="rect">
            <a:avLst/>
          </a:prstGeom>
          <a:solidFill>
            <a:srgbClr val="87ADEC"/>
          </a:solidFill>
          <a:ln w="12700">
            <a:solidFill>
              <a:srgbClr val="87ADEC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38200" y="1917700"/>
            <a:ext cx="6032500" cy="158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000" b="1" dirty="0">
                <a:solidFill>
                  <a:srgbClr val="6975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ЗАДАЧИ</a:t>
            </a:r>
            <a:endParaRPr lang="ru-RU" sz="1000" dirty="0"/>
          </a:p>
        </p:txBody>
      </p:sp>
      <p:sp>
        <p:nvSpPr>
          <p:cNvPr id="12" name="Text 9"/>
          <p:cNvSpPr/>
          <p:nvPr/>
        </p:nvSpPr>
        <p:spPr>
          <a:xfrm>
            <a:off x="838200" y="2247900"/>
            <a:ext cx="60706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600" b="1" dirty="0">
                <a:solidFill>
                  <a:srgbClr val="15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Geocode</a:t>
            </a:r>
            <a:endParaRPr lang="ru-RU" sz="1600" dirty="0"/>
          </a:p>
        </p:txBody>
      </p:sp>
      <p:sp>
        <p:nvSpPr>
          <p:cNvPr id="13" name="Text 10"/>
          <p:cNvSpPr/>
          <p:nvPr/>
        </p:nvSpPr>
        <p:spPr>
          <a:xfrm>
            <a:off x="838200" y="2552700"/>
            <a:ext cx="6070600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300" dirty="0">
                <a:solidFill>
                  <a:srgbClr val="6975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Получить координаты адресов и ошибки распознавания.</a:t>
            </a:r>
            <a:endParaRPr lang="ru-RU" sz="1300" dirty="0"/>
          </a:p>
        </p:txBody>
      </p:sp>
      <p:sp>
        <p:nvSpPr>
          <p:cNvPr id="14" name="Text 11"/>
          <p:cNvSpPr/>
          <p:nvPr/>
        </p:nvSpPr>
        <p:spPr>
          <a:xfrm>
            <a:off x="838200" y="2971800"/>
            <a:ext cx="60706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600" b="1" dirty="0">
                <a:solidFill>
                  <a:srgbClr val="15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BuildMatrix</a:t>
            </a:r>
            <a:endParaRPr lang="ru-RU" sz="1600" dirty="0"/>
          </a:p>
        </p:txBody>
      </p:sp>
      <p:sp>
        <p:nvSpPr>
          <p:cNvPr id="15" name="Text 12"/>
          <p:cNvSpPr/>
          <p:nvPr/>
        </p:nvSpPr>
        <p:spPr>
          <a:xfrm>
            <a:off x="838200" y="3276600"/>
            <a:ext cx="6070600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300" dirty="0">
                <a:solidFill>
                  <a:srgbClr val="6975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Время и расстояние по дорогам: автомобиль и пеший профиль.</a:t>
            </a:r>
            <a:endParaRPr lang="ru-RU" sz="1300" dirty="0"/>
          </a:p>
        </p:txBody>
      </p:sp>
      <p:sp>
        <p:nvSpPr>
          <p:cNvPr id="16" name="Text 13"/>
          <p:cNvSpPr/>
          <p:nvPr/>
        </p:nvSpPr>
        <p:spPr>
          <a:xfrm>
            <a:off x="838200" y="3695700"/>
            <a:ext cx="60706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600" b="1" dirty="0">
                <a:solidFill>
                  <a:srgbClr val="15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BuildRoutes</a:t>
            </a:r>
            <a:endParaRPr lang="ru-RU" sz="1600" dirty="0"/>
          </a:p>
        </p:txBody>
      </p:sp>
      <p:sp>
        <p:nvSpPr>
          <p:cNvPr id="17" name="Text 14"/>
          <p:cNvSpPr/>
          <p:nvPr/>
        </p:nvSpPr>
        <p:spPr>
          <a:xfrm>
            <a:off x="838200" y="4000500"/>
            <a:ext cx="6070600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300" dirty="0">
                <a:solidFill>
                  <a:srgbClr val="6975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Геометрия уже выбранных участков маршрута; кэширование.</a:t>
            </a:r>
            <a:endParaRPr lang="ru-RU" sz="1300" dirty="0"/>
          </a:p>
        </p:txBody>
      </p:sp>
      <p:sp>
        <p:nvSpPr>
          <p:cNvPr id="18" name="Text 15"/>
          <p:cNvSpPr/>
          <p:nvPr/>
        </p:nvSpPr>
        <p:spPr>
          <a:xfrm>
            <a:off x="838200" y="4419600"/>
            <a:ext cx="60706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600" b="1" dirty="0">
                <a:solidFill>
                  <a:srgbClr val="15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PositionAt</a:t>
            </a:r>
            <a:endParaRPr lang="ru-RU" sz="1600" dirty="0"/>
          </a:p>
        </p:txBody>
      </p:sp>
      <p:sp>
        <p:nvSpPr>
          <p:cNvPr id="19" name="Text 16"/>
          <p:cNvSpPr/>
          <p:nvPr/>
        </p:nvSpPr>
        <p:spPr>
          <a:xfrm>
            <a:off x="838200" y="4724400"/>
            <a:ext cx="6070600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300" dirty="0">
                <a:solidFill>
                  <a:srgbClr val="6975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Модельное положение инженера в пути на момент события.</a:t>
            </a:r>
            <a:endParaRPr lang="ru-RU" sz="1300" dirty="0"/>
          </a:p>
        </p:txBody>
      </p:sp>
      <p:sp>
        <p:nvSpPr>
          <p:cNvPr id="20" name="Shape 17"/>
          <p:cNvSpPr/>
          <p:nvPr/>
        </p:nvSpPr>
        <p:spPr>
          <a:xfrm>
            <a:off x="7378700" y="1727200"/>
            <a:ext cx="4203700" cy="3505200"/>
          </a:xfrm>
          <a:prstGeom prst="rect">
            <a:avLst/>
          </a:prstGeom>
          <a:solidFill>
            <a:srgbClr val="E7ECEF"/>
          </a:solidFill>
          <a:ln w="12700">
            <a:solidFill>
              <a:srgbClr val="E7ECEF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594600" y="1943100"/>
            <a:ext cx="3759200" cy="269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700" b="1" dirty="0">
                <a:solidFill>
                  <a:srgbClr val="15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РЕАЛИЗУЕТ</a:t>
            </a:r>
            <a:endParaRPr lang="ru-RU" sz="1700" dirty="0"/>
          </a:p>
        </p:txBody>
      </p:sp>
      <p:sp>
        <p:nvSpPr>
          <p:cNvPr id="22" name="Text 19"/>
          <p:cNvSpPr/>
          <p:nvPr/>
        </p:nvSpPr>
        <p:spPr>
          <a:xfrm>
            <a:off x="7594600" y="2336800"/>
            <a:ext cx="375920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500" dirty="0">
                <a:solidFill>
                  <a:srgbClr val="15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GeoService: Geocode, BuildMatrix,</a:t>
            </a:r>
            <a:endParaRPr lang="ru-RU" sz="1500" dirty="0"/>
          </a:p>
        </p:txBody>
      </p:sp>
      <p:sp>
        <p:nvSpPr>
          <p:cNvPr id="23" name="Text 20"/>
          <p:cNvSpPr/>
          <p:nvPr/>
        </p:nvSpPr>
        <p:spPr>
          <a:xfrm>
            <a:off x="7594600" y="2561590"/>
            <a:ext cx="375920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500" dirty="0">
                <a:solidFill>
                  <a:srgbClr val="15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BuildRoutes, PositionAt.</a:t>
            </a:r>
            <a:endParaRPr lang="ru-RU" sz="1500" dirty="0"/>
          </a:p>
        </p:txBody>
      </p:sp>
      <p:sp>
        <p:nvSpPr>
          <p:cNvPr id="24" name="Shape 21"/>
          <p:cNvSpPr/>
          <p:nvPr/>
        </p:nvSpPr>
        <p:spPr>
          <a:xfrm>
            <a:off x="7594600" y="3390900"/>
            <a:ext cx="3759200" cy="0"/>
          </a:xfrm>
          <a:prstGeom prst="line">
            <a:avLst/>
          </a:prstGeom>
          <a:noFill/>
          <a:ln w="10160">
            <a:solidFill>
              <a:srgbClr val="C8D0D6"/>
            </a:solidFill>
            <a:prstDash val="solid"/>
            <a:headEnd type="none"/>
            <a:tailEnd type="none"/>
          </a:ln>
        </p:spPr>
      </p:sp>
      <p:sp>
        <p:nvSpPr>
          <p:cNvPr id="25" name="Text 22"/>
          <p:cNvSpPr/>
          <p:nvPr/>
        </p:nvSpPr>
        <p:spPr>
          <a:xfrm>
            <a:off x="7594600" y="3606800"/>
            <a:ext cx="3759200" cy="269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700" b="1" dirty="0">
                <a:solidFill>
                  <a:srgbClr val="15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ИСПОЛЬЗУЕТ ОТ ДРУГИХ</a:t>
            </a:r>
            <a:endParaRPr lang="ru-RU" sz="1700" dirty="0"/>
          </a:p>
        </p:txBody>
      </p:sp>
      <p:sp>
        <p:nvSpPr>
          <p:cNvPr id="26" name="Text 23"/>
          <p:cNvSpPr/>
          <p:nvPr/>
        </p:nvSpPr>
        <p:spPr>
          <a:xfrm>
            <a:off x="7594600" y="4000500"/>
            <a:ext cx="375920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500" dirty="0">
                <a:solidFill>
                  <a:srgbClr val="15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вызывает Go-модули; внешняя</a:t>
            </a:r>
            <a:endParaRPr lang="ru-RU" sz="1500" dirty="0"/>
          </a:p>
        </p:txBody>
      </p:sp>
      <p:sp>
        <p:nvSpPr>
          <p:cNvPr id="27" name="Text 24"/>
          <p:cNvSpPr/>
          <p:nvPr/>
        </p:nvSpPr>
        <p:spPr>
          <a:xfrm>
            <a:off x="7594600" y="4225290"/>
            <a:ext cx="375920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500" dirty="0">
                <a:solidFill>
                  <a:srgbClr val="15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геосистема — внутренняя зависимость</a:t>
            </a:r>
            <a:endParaRPr lang="ru-RU" sz="1500" dirty="0"/>
          </a:p>
        </p:txBody>
      </p:sp>
      <p:sp>
        <p:nvSpPr>
          <p:cNvPr id="28" name="Text 25"/>
          <p:cNvSpPr/>
          <p:nvPr/>
        </p:nvSpPr>
        <p:spPr>
          <a:xfrm>
            <a:off x="7594600" y="4450080"/>
            <a:ext cx="375920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500" dirty="0">
                <a:solidFill>
                  <a:srgbClr val="15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Go-3.</a:t>
            </a:r>
            <a:endParaRPr lang="ru-RU" sz="1500" dirty="0"/>
          </a:p>
        </p:txBody>
      </p:sp>
      <p:sp>
        <p:nvSpPr>
          <p:cNvPr id="29" name="Text 26"/>
          <p:cNvSpPr/>
          <p:nvPr/>
        </p:nvSpPr>
        <p:spPr>
          <a:xfrm>
            <a:off x="609600" y="5461000"/>
            <a:ext cx="10972800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400" b="1" dirty="0">
                <a:solidFill>
                  <a:srgbClr val="15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Вызывается Go-2 и Go-4 по контракту GeoService.</a:t>
            </a:r>
            <a:endParaRPr lang="ru-RU" sz="1400" dirty="0"/>
          </a:p>
        </p:txBody>
      </p:sp>
      <p:sp>
        <p:nvSpPr>
          <p:cNvPr id="30" name="Text 27"/>
          <p:cNvSpPr/>
          <p:nvPr/>
        </p:nvSpPr>
        <p:spPr>
          <a:xfrm>
            <a:off x="609600" y="5905500"/>
            <a:ext cx="10972800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400" dirty="0">
                <a:solidFill>
                  <a:srgbClr val="6975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старта: подготовленные адреса, точки и последовательности участков.</a:t>
            </a:r>
            <a:endParaRPr lang="ru-RU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00" y="317500"/>
            <a:ext cx="8636000" cy="158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000" b="1" dirty="0">
                <a:solidFill>
                  <a:srgbClr val="6975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 РАЗРАБОТКИ</a:t>
            </a:r>
            <a:endParaRPr lang="ru-RU" sz="1000" dirty="0"/>
          </a:p>
        </p:txBody>
      </p:sp>
      <p:sp>
        <p:nvSpPr>
          <p:cNvPr id="4" name="Text 1"/>
          <p:cNvSpPr/>
          <p:nvPr/>
        </p:nvSpPr>
        <p:spPr>
          <a:xfrm>
            <a:off x="609600" y="673100"/>
            <a:ext cx="10972800" cy="492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3100" b="1" dirty="0">
                <a:solidFill>
                  <a:srgbClr val="15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Go-4 — Управление планами</a:t>
            </a:r>
            <a:endParaRPr lang="ru-RU" sz="3100" dirty="0"/>
          </a:p>
        </p:txBody>
      </p:sp>
      <p:sp>
        <p:nvSpPr>
          <p:cNvPr id="5" name="Text 2"/>
          <p:cNvSpPr/>
          <p:nvPr/>
        </p:nvSpPr>
        <p:spPr>
          <a:xfrm>
            <a:off x="609600" y="1257300"/>
            <a:ext cx="10972800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400" dirty="0">
                <a:solidFill>
                  <a:srgbClr val="6975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PlanService.Build / Replan</a:t>
            </a:r>
            <a:endParaRPr lang="ru-RU" sz="1400" dirty="0"/>
          </a:p>
        </p:txBody>
      </p:sp>
      <p:sp>
        <p:nvSpPr>
          <p:cNvPr id="6" name="Shape 3"/>
          <p:cNvSpPr/>
          <p:nvPr/>
        </p:nvSpPr>
        <p:spPr>
          <a:xfrm>
            <a:off x="609600" y="6413500"/>
            <a:ext cx="10972800" cy="0"/>
          </a:xfrm>
          <a:prstGeom prst="line">
            <a:avLst/>
          </a:prstGeom>
          <a:noFill/>
          <a:ln w="8890">
            <a:solidFill>
              <a:srgbClr val="DDDCD6"/>
            </a:solidFill>
            <a:prstDash val="solid"/>
            <a:headEnd type="none"/>
            <a:tailEnd type="none"/>
          </a:ln>
        </p:spPr>
      </p:sp>
      <p:sp>
        <p:nvSpPr>
          <p:cNvPr id="7" name="Text 4"/>
          <p:cNvSpPr/>
          <p:nvPr/>
        </p:nvSpPr>
        <p:spPr>
          <a:xfrm>
            <a:off x="609600" y="6565900"/>
            <a:ext cx="99695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900" dirty="0">
                <a:solidFill>
                  <a:srgbClr val="6975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docs/contracts/plans.md</a:t>
            </a:r>
            <a:endParaRPr lang="ru-RU" sz="900" dirty="0"/>
          </a:p>
        </p:txBody>
      </p:sp>
      <p:sp>
        <p:nvSpPr>
          <p:cNvPr id="8" name="Text 5"/>
          <p:cNvSpPr/>
          <p:nvPr/>
        </p:nvSpPr>
        <p:spPr>
          <a:xfrm>
            <a:off x="10769600" y="6540500"/>
            <a:ext cx="812800" cy="158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ru-RU" altLang="en-US" sz="1000" b="1" dirty="0">
                <a:solidFill>
                  <a:srgbClr val="6975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10</a:t>
            </a:r>
            <a:endParaRPr lang="ru-RU" sz="1000" dirty="0"/>
          </a:p>
        </p:txBody>
      </p:sp>
      <p:sp>
        <p:nvSpPr>
          <p:cNvPr id="9" name="Shape 6"/>
          <p:cNvSpPr/>
          <p:nvPr/>
        </p:nvSpPr>
        <p:spPr>
          <a:xfrm>
            <a:off x="609600" y="1727200"/>
            <a:ext cx="6565900" cy="3505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09600" y="1727200"/>
            <a:ext cx="63500" cy="3505200"/>
          </a:xfrm>
          <a:prstGeom prst="rect">
            <a:avLst/>
          </a:prstGeom>
          <a:solidFill>
            <a:srgbClr val="B6A0E6"/>
          </a:solidFill>
          <a:ln w="12700">
            <a:solidFill>
              <a:srgbClr val="B6A0E6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38200" y="1917700"/>
            <a:ext cx="6032500" cy="158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000" b="1" dirty="0">
                <a:solidFill>
                  <a:srgbClr val="6975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ЗАДАЧИ</a:t>
            </a:r>
            <a:endParaRPr lang="ru-RU" sz="1000" dirty="0"/>
          </a:p>
        </p:txBody>
      </p:sp>
      <p:sp>
        <p:nvSpPr>
          <p:cNvPr id="12" name="Text 9"/>
          <p:cNvSpPr/>
          <p:nvPr/>
        </p:nvSpPr>
        <p:spPr>
          <a:xfrm>
            <a:off x="838200" y="2247900"/>
            <a:ext cx="60706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600" b="1" dirty="0">
                <a:solidFill>
                  <a:srgbClr val="15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Обычный расчёт</a:t>
            </a:r>
            <a:endParaRPr lang="ru-RU" sz="1600" dirty="0"/>
          </a:p>
        </p:txBody>
      </p:sp>
      <p:sp>
        <p:nvSpPr>
          <p:cNvPr id="13" name="Text 10"/>
          <p:cNvSpPr/>
          <p:nvPr/>
        </p:nvSpPr>
        <p:spPr>
          <a:xfrm>
            <a:off x="838200" y="2552700"/>
            <a:ext cx="6070600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300" dirty="0">
                <a:solidFill>
                  <a:srgbClr val="6975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Получить снимок и матрицу; вызвать оба режима Go-1.</a:t>
            </a:r>
            <a:endParaRPr lang="ru-RU" sz="1300" dirty="0"/>
          </a:p>
        </p:txBody>
      </p:sp>
      <p:sp>
        <p:nvSpPr>
          <p:cNvPr id="14" name="Text 11"/>
          <p:cNvSpPr/>
          <p:nvPr/>
        </p:nvSpPr>
        <p:spPr>
          <a:xfrm>
            <a:off x="838200" y="2971800"/>
            <a:ext cx="60706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600" b="1" dirty="0">
                <a:solidFill>
                  <a:srgbClr val="15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Обработка событий</a:t>
            </a:r>
            <a:endParaRPr lang="ru-RU" sz="1600" dirty="0"/>
          </a:p>
        </p:txBody>
      </p:sp>
      <p:sp>
        <p:nvSpPr>
          <p:cNvPr id="15" name="Text 12"/>
          <p:cNvSpPr/>
          <p:nvPr/>
        </p:nvSpPr>
        <p:spPr>
          <a:xfrm>
            <a:off x="838200" y="3276600"/>
            <a:ext cx="6070600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300" dirty="0">
                <a:solidFill>
                  <a:srgbClr val="6975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Срочная заявка, отмена заявки, недоступность инженера.</a:t>
            </a:r>
            <a:endParaRPr lang="ru-RU" sz="1300" dirty="0"/>
          </a:p>
        </p:txBody>
      </p:sp>
      <p:sp>
        <p:nvSpPr>
          <p:cNvPr id="16" name="Text 13"/>
          <p:cNvSpPr/>
          <p:nvPr/>
        </p:nvSpPr>
        <p:spPr>
          <a:xfrm>
            <a:off x="838200" y="3695700"/>
            <a:ext cx="60706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600" b="1" dirty="0">
                <a:solidFill>
                  <a:srgbClr val="15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Перепланирование</a:t>
            </a:r>
            <a:endParaRPr lang="ru-RU" sz="1600" dirty="0"/>
          </a:p>
        </p:txBody>
      </p:sp>
      <p:sp>
        <p:nvSpPr>
          <p:cNvPr id="17" name="Text 14"/>
          <p:cNvSpPr/>
          <p:nvPr/>
        </p:nvSpPr>
        <p:spPr>
          <a:xfrm>
            <a:off x="838200" y="4000500"/>
            <a:ext cx="6070600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300" dirty="0">
                <a:solidFill>
                  <a:srgbClr val="6975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Сохранить выполненное и начатое; пересчитать будущую часть.</a:t>
            </a:r>
            <a:endParaRPr lang="ru-RU" sz="1300" dirty="0"/>
          </a:p>
        </p:txBody>
      </p:sp>
      <p:sp>
        <p:nvSpPr>
          <p:cNvPr id="18" name="Text 15"/>
          <p:cNvSpPr/>
          <p:nvPr/>
        </p:nvSpPr>
        <p:spPr>
          <a:xfrm>
            <a:off x="838200" y="4419600"/>
            <a:ext cx="60706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600" b="1" dirty="0">
                <a:solidFill>
                  <a:srgbClr val="15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 и сравнение</a:t>
            </a:r>
            <a:endParaRPr lang="ru-RU" sz="1600" dirty="0"/>
          </a:p>
        </p:txBody>
      </p:sp>
      <p:sp>
        <p:nvSpPr>
          <p:cNvPr id="19" name="Text 16"/>
          <p:cNvSpPr/>
          <p:nvPr/>
        </p:nvSpPr>
        <p:spPr>
          <a:xfrm>
            <a:off x="838200" y="4724400"/>
            <a:ext cx="6070600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300" dirty="0">
                <a:solidFill>
                  <a:srgbClr val="6975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Проверить ограничения, добавить геометрию, метрики и изменения.</a:t>
            </a:r>
            <a:endParaRPr lang="ru-RU" sz="1300" dirty="0"/>
          </a:p>
        </p:txBody>
      </p:sp>
      <p:sp>
        <p:nvSpPr>
          <p:cNvPr id="20" name="Shape 17"/>
          <p:cNvSpPr/>
          <p:nvPr/>
        </p:nvSpPr>
        <p:spPr>
          <a:xfrm>
            <a:off x="7378700" y="1727200"/>
            <a:ext cx="4203700" cy="3505200"/>
          </a:xfrm>
          <a:prstGeom prst="rect">
            <a:avLst/>
          </a:prstGeom>
          <a:solidFill>
            <a:srgbClr val="E7ECEF"/>
          </a:solidFill>
          <a:ln w="12700">
            <a:solidFill>
              <a:srgbClr val="E7ECEF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594600" y="1943100"/>
            <a:ext cx="3759200" cy="269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700" b="1" dirty="0">
                <a:solidFill>
                  <a:srgbClr val="15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РЕАЛИЗУЕТ</a:t>
            </a:r>
            <a:endParaRPr lang="ru-RU" sz="1700" dirty="0"/>
          </a:p>
        </p:txBody>
      </p:sp>
      <p:sp>
        <p:nvSpPr>
          <p:cNvPr id="22" name="Text 19"/>
          <p:cNvSpPr/>
          <p:nvPr/>
        </p:nvSpPr>
        <p:spPr>
          <a:xfrm>
            <a:off x="7594600" y="2336800"/>
            <a:ext cx="375920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500" dirty="0">
                <a:solidFill>
                  <a:srgbClr val="15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PlanService.Build / Replan → PlanResult:</a:t>
            </a:r>
            <a:endParaRPr lang="ru-RU" sz="1500" dirty="0"/>
          </a:p>
        </p:txBody>
      </p:sp>
      <p:sp>
        <p:nvSpPr>
          <p:cNvPr id="23" name="Text 20"/>
          <p:cNvSpPr/>
          <p:nvPr/>
        </p:nvSpPr>
        <p:spPr>
          <a:xfrm>
            <a:off x="7594600" y="2561590"/>
            <a:ext cx="375920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500" dirty="0">
                <a:solidFill>
                  <a:srgbClr val="15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проверенный план, метрики и</a:t>
            </a:r>
            <a:endParaRPr lang="ru-RU" sz="1500" dirty="0"/>
          </a:p>
        </p:txBody>
      </p:sp>
      <p:sp>
        <p:nvSpPr>
          <p:cNvPr id="24" name="Text 21"/>
          <p:cNvSpPr/>
          <p:nvPr/>
        </p:nvSpPr>
        <p:spPr>
          <a:xfrm>
            <a:off x="7594600" y="2786380"/>
            <a:ext cx="375920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500" dirty="0">
                <a:solidFill>
                  <a:srgbClr val="15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изменения.</a:t>
            </a:r>
            <a:endParaRPr lang="ru-RU" sz="1500" dirty="0"/>
          </a:p>
        </p:txBody>
      </p:sp>
      <p:sp>
        <p:nvSpPr>
          <p:cNvPr id="25" name="Shape 22"/>
          <p:cNvSpPr/>
          <p:nvPr/>
        </p:nvSpPr>
        <p:spPr>
          <a:xfrm>
            <a:off x="7594600" y="3390900"/>
            <a:ext cx="3759200" cy="0"/>
          </a:xfrm>
          <a:prstGeom prst="line">
            <a:avLst/>
          </a:prstGeom>
          <a:noFill/>
          <a:ln w="10160">
            <a:solidFill>
              <a:srgbClr val="C8D0D6"/>
            </a:solidFill>
            <a:prstDash val="solid"/>
            <a:headEnd type="none"/>
            <a:tailEnd type="none"/>
          </a:ln>
        </p:spPr>
      </p:sp>
      <p:sp>
        <p:nvSpPr>
          <p:cNvPr id="26" name="Text 23"/>
          <p:cNvSpPr/>
          <p:nvPr/>
        </p:nvSpPr>
        <p:spPr>
          <a:xfrm>
            <a:off x="7594600" y="3606800"/>
            <a:ext cx="3759200" cy="269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700" b="1" dirty="0">
                <a:solidFill>
                  <a:srgbClr val="15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ИСПОЛЬЗУЕТ ОТ ДРУГИХ</a:t>
            </a:r>
            <a:endParaRPr lang="ru-RU" sz="1700" dirty="0"/>
          </a:p>
        </p:txBody>
      </p:sp>
      <p:sp>
        <p:nvSpPr>
          <p:cNvPr id="27" name="Text 24"/>
          <p:cNvSpPr/>
          <p:nvPr/>
        </p:nvSpPr>
        <p:spPr>
          <a:xfrm>
            <a:off x="7594600" y="4000500"/>
            <a:ext cx="375920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500" dirty="0">
                <a:solidFill>
                  <a:srgbClr val="15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DataStore.GetSnapshot / GetPlan (Go-2);</a:t>
            </a:r>
            <a:endParaRPr lang="ru-RU" sz="1500" dirty="0"/>
          </a:p>
        </p:txBody>
      </p:sp>
      <p:sp>
        <p:nvSpPr>
          <p:cNvPr id="28" name="Text 25"/>
          <p:cNvSpPr/>
          <p:nvPr/>
        </p:nvSpPr>
        <p:spPr>
          <a:xfrm>
            <a:off x="7594600" y="4225290"/>
            <a:ext cx="375920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500" dirty="0">
                <a:solidFill>
                  <a:srgbClr val="15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4 метода GeoService (Go-3);</a:t>
            </a:r>
            <a:endParaRPr lang="ru-RU" sz="1500" dirty="0"/>
          </a:p>
        </p:txBody>
      </p:sp>
      <p:sp>
        <p:nvSpPr>
          <p:cNvPr id="29" name="Text 26"/>
          <p:cNvSpPr/>
          <p:nvPr/>
        </p:nvSpPr>
        <p:spPr>
          <a:xfrm>
            <a:off x="7594600" y="4450080"/>
            <a:ext cx="375920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500" dirty="0">
                <a:solidFill>
                  <a:srgbClr val="15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Planner.Solve (Go-1).</a:t>
            </a:r>
            <a:endParaRPr lang="ru-RU" sz="1500" dirty="0"/>
          </a:p>
        </p:txBody>
      </p:sp>
      <p:sp>
        <p:nvSpPr>
          <p:cNvPr id="30" name="Text 27"/>
          <p:cNvSpPr/>
          <p:nvPr/>
        </p:nvSpPr>
        <p:spPr>
          <a:xfrm>
            <a:off x="609600" y="5461000"/>
            <a:ext cx="10972800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400" b="1" dirty="0">
                <a:solidFill>
                  <a:srgbClr val="15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Вызывается Go-2; Go-4 не сохраняет план напрямую.</a:t>
            </a:r>
            <a:endParaRPr lang="ru-RU" sz="1400" dirty="0"/>
          </a:p>
        </p:txBody>
      </p:sp>
      <p:sp>
        <p:nvSpPr>
          <p:cNvPr id="31" name="Text 28"/>
          <p:cNvSpPr/>
          <p:nvPr/>
        </p:nvSpPr>
        <p:spPr>
          <a:xfrm>
            <a:off x="609600" y="5905500"/>
            <a:ext cx="10972800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400" dirty="0">
                <a:solidFill>
                  <a:srgbClr val="6975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старта: готовые снимки и планы, заглушки географии и планировщика.</a:t>
            </a:r>
            <a:endParaRPr lang="ru-RU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00" y="317500"/>
            <a:ext cx="8636000" cy="158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000" b="1" dirty="0">
                <a:solidFill>
                  <a:srgbClr val="6975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 РАЗРАБОТКИ</a:t>
            </a:r>
            <a:endParaRPr lang="ru-RU" sz="1000" dirty="0"/>
          </a:p>
        </p:txBody>
      </p:sp>
      <p:sp>
        <p:nvSpPr>
          <p:cNvPr id="4" name="Text 1"/>
          <p:cNvSpPr/>
          <p:nvPr/>
        </p:nvSpPr>
        <p:spPr>
          <a:xfrm>
            <a:off x="609600" y="673100"/>
            <a:ext cx="10972800" cy="492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3100" b="1" dirty="0">
                <a:solidFill>
                  <a:srgbClr val="15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— Рабочее место диспетчера</a:t>
            </a:r>
            <a:endParaRPr lang="ru-RU" sz="3100" dirty="0"/>
          </a:p>
        </p:txBody>
      </p:sp>
      <p:sp>
        <p:nvSpPr>
          <p:cNvPr id="5" name="Text 2"/>
          <p:cNvSpPr/>
          <p:nvPr/>
        </p:nvSpPr>
        <p:spPr>
          <a:xfrm>
            <a:off x="609600" y="1257300"/>
            <a:ext cx="10972800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400" dirty="0">
                <a:solidFill>
                  <a:srgbClr val="6975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API /api/v1</a:t>
            </a:r>
            <a:endParaRPr lang="ru-RU" sz="1400" dirty="0"/>
          </a:p>
        </p:txBody>
      </p:sp>
      <p:sp>
        <p:nvSpPr>
          <p:cNvPr id="6" name="Shape 3"/>
          <p:cNvSpPr/>
          <p:nvPr/>
        </p:nvSpPr>
        <p:spPr>
          <a:xfrm>
            <a:off x="609600" y="6413500"/>
            <a:ext cx="10972800" cy="0"/>
          </a:xfrm>
          <a:prstGeom prst="line">
            <a:avLst/>
          </a:prstGeom>
          <a:noFill/>
          <a:ln w="8890">
            <a:solidFill>
              <a:srgbClr val="DDDCD6"/>
            </a:solidFill>
            <a:prstDash val="solid"/>
            <a:headEnd type="none"/>
            <a:tailEnd type="none"/>
          </a:ln>
        </p:spPr>
      </p:sp>
      <p:sp>
        <p:nvSpPr>
          <p:cNvPr id="7" name="Text 4"/>
          <p:cNvSpPr/>
          <p:nvPr/>
        </p:nvSpPr>
        <p:spPr>
          <a:xfrm>
            <a:off x="609600" y="6565900"/>
            <a:ext cx="99695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900" dirty="0">
                <a:solidFill>
                  <a:srgbClr val="6975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docs/contracts/frontend.md</a:t>
            </a:r>
            <a:endParaRPr lang="ru-RU" sz="900" dirty="0"/>
          </a:p>
        </p:txBody>
      </p:sp>
      <p:sp>
        <p:nvSpPr>
          <p:cNvPr id="8" name="Text 5"/>
          <p:cNvSpPr/>
          <p:nvPr/>
        </p:nvSpPr>
        <p:spPr>
          <a:xfrm>
            <a:off x="10769600" y="6540500"/>
            <a:ext cx="812800" cy="158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ru-RU" altLang="en-US" sz="1000" b="1" dirty="0">
                <a:solidFill>
                  <a:srgbClr val="6975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10</a:t>
            </a:r>
            <a:endParaRPr lang="ru-RU" sz="1000" dirty="0"/>
          </a:p>
        </p:txBody>
      </p:sp>
      <p:sp>
        <p:nvSpPr>
          <p:cNvPr id="9" name="Shape 6"/>
          <p:cNvSpPr/>
          <p:nvPr/>
        </p:nvSpPr>
        <p:spPr>
          <a:xfrm>
            <a:off x="609600" y="1727200"/>
            <a:ext cx="6565900" cy="3505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09600" y="1727200"/>
            <a:ext cx="63500" cy="3505200"/>
          </a:xfrm>
          <a:prstGeom prst="rect">
            <a:avLst/>
          </a:prstGeom>
          <a:solidFill>
            <a:srgbClr val="F19B83"/>
          </a:solidFill>
          <a:ln w="12700">
            <a:solidFill>
              <a:srgbClr val="F19B83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38200" y="1917700"/>
            <a:ext cx="6032500" cy="158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000" b="1" dirty="0">
                <a:solidFill>
                  <a:srgbClr val="6975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ЗАДАЧИ</a:t>
            </a:r>
            <a:endParaRPr lang="ru-RU" sz="1000" dirty="0"/>
          </a:p>
        </p:txBody>
      </p:sp>
      <p:sp>
        <p:nvSpPr>
          <p:cNvPr id="12" name="Text 9"/>
          <p:cNvSpPr/>
          <p:nvPr/>
        </p:nvSpPr>
        <p:spPr>
          <a:xfrm>
            <a:off x="838200" y="2247900"/>
            <a:ext cx="60706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600" b="1" dirty="0">
                <a:solidFill>
                  <a:srgbClr val="15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Данные и инженеры</a:t>
            </a:r>
            <a:endParaRPr lang="ru-RU" sz="1600" dirty="0"/>
          </a:p>
        </p:txBody>
      </p:sp>
      <p:sp>
        <p:nvSpPr>
          <p:cNvPr id="13" name="Text 10"/>
          <p:cNvSpPr/>
          <p:nvPr/>
        </p:nvSpPr>
        <p:spPr>
          <a:xfrm>
            <a:off x="838200" y="2552700"/>
            <a:ext cx="6070600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300" dirty="0">
                <a:solidFill>
                  <a:srgbClr val="6975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Загрузка CSV / демо-набора, ошибки данных, настройка инженеров.</a:t>
            </a:r>
            <a:endParaRPr lang="ru-RU" sz="1300" dirty="0"/>
          </a:p>
        </p:txBody>
      </p:sp>
      <p:sp>
        <p:nvSpPr>
          <p:cNvPr id="14" name="Text 11"/>
          <p:cNvSpPr/>
          <p:nvPr/>
        </p:nvSpPr>
        <p:spPr>
          <a:xfrm>
            <a:off x="838200" y="2971800"/>
            <a:ext cx="60706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600" b="1" dirty="0">
                <a:solidFill>
                  <a:srgbClr val="15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Рабочий экран</a:t>
            </a:r>
            <a:endParaRPr lang="ru-RU" sz="1600" dirty="0"/>
          </a:p>
        </p:txBody>
      </p:sp>
      <p:sp>
        <p:nvSpPr>
          <p:cNvPr id="15" name="Text 12"/>
          <p:cNvSpPr/>
          <p:nvPr/>
        </p:nvSpPr>
        <p:spPr>
          <a:xfrm>
            <a:off x="838200" y="3276600"/>
            <a:ext cx="6070600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300" dirty="0">
                <a:solidFill>
                  <a:srgbClr val="6975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Карта, расписание, карточки заявок, связанный выбор и фильтры.</a:t>
            </a:r>
            <a:endParaRPr lang="ru-RU" sz="1300" dirty="0"/>
          </a:p>
        </p:txBody>
      </p:sp>
      <p:sp>
        <p:nvSpPr>
          <p:cNvPr id="16" name="Text 13"/>
          <p:cNvSpPr/>
          <p:nvPr/>
        </p:nvSpPr>
        <p:spPr>
          <a:xfrm>
            <a:off x="838200" y="3695700"/>
            <a:ext cx="60706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600" b="1" dirty="0">
                <a:solidFill>
                  <a:srgbClr val="15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 расчёта</a:t>
            </a:r>
            <a:endParaRPr lang="ru-RU" sz="1600" dirty="0"/>
          </a:p>
        </p:txBody>
      </p:sp>
      <p:sp>
        <p:nvSpPr>
          <p:cNvPr id="17" name="Text 14"/>
          <p:cNvSpPr/>
          <p:nvPr/>
        </p:nvSpPr>
        <p:spPr>
          <a:xfrm>
            <a:off x="838200" y="4000500"/>
            <a:ext cx="6070600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300" dirty="0">
                <a:solidFill>
                  <a:srgbClr val="6975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Неназначенные заявки, причины и сравнение метрик.</a:t>
            </a:r>
            <a:endParaRPr lang="ru-RU" sz="1300" dirty="0"/>
          </a:p>
        </p:txBody>
      </p:sp>
      <p:sp>
        <p:nvSpPr>
          <p:cNvPr id="18" name="Text 15"/>
          <p:cNvSpPr/>
          <p:nvPr/>
        </p:nvSpPr>
        <p:spPr>
          <a:xfrm>
            <a:off x="838200" y="4419600"/>
            <a:ext cx="60706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600" b="1" dirty="0">
                <a:solidFill>
                  <a:srgbClr val="15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События</a:t>
            </a:r>
            <a:endParaRPr lang="ru-RU" sz="1600" dirty="0"/>
          </a:p>
        </p:txBody>
      </p:sp>
      <p:sp>
        <p:nvSpPr>
          <p:cNvPr id="19" name="Text 16"/>
          <p:cNvSpPr/>
          <p:nvPr/>
        </p:nvSpPr>
        <p:spPr>
          <a:xfrm>
            <a:off x="838200" y="4724400"/>
            <a:ext cx="6070600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300" dirty="0">
                <a:solidFill>
                  <a:srgbClr val="6975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Формы трёх событий и отображение изменений нового плана.</a:t>
            </a:r>
            <a:endParaRPr lang="ru-RU" sz="1300" dirty="0"/>
          </a:p>
        </p:txBody>
      </p:sp>
      <p:sp>
        <p:nvSpPr>
          <p:cNvPr id="20" name="Shape 17"/>
          <p:cNvSpPr/>
          <p:nvPr/>
        </p:nvSpPr>
        <p:spPr>
          <a:xfrm>
            <a:off x="7378700" y="1727200"/>
            <a:ext cx="4203700" cy="3505200"/>
          </a:xfrm>
          <a:prstGeom prst="rect">
            <a:avLst/>
          </a:prstGeom>
          <a:solidFill>
            <a:srgbClr val="E7ECEF"/>
          </a:solidFill>
          <a:ln w="12700">
            <a:solidFill>
              <a:srgbClr val="E7ECEF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594600" y="1943100"/>
            <a:ext cx="3759200" cy="269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700" b="1" dirty="0">
                <a:solidFill>
                  <a:srgbClr val="15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РЕАЛИЗУЕТ</a:t>
            </a:r>
            <a:endParaRPr lang="ru-RU" sz="1700" dirty="0"/>
          </a:p>
        </p:txBody>
      </p:sp>
      <p:sp>
        <p:nvSpPr>
          <p:cNvPr id="22" name="Text 19"/>
          <p:cNvSpPr/>
          <p:nvPr/>
        </p:nvSpPr>
        <p:spPr>
          <a:xfrm>
            <a:off x="7594600" y="2336800"/>
            <a:ext cx="375920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500" dirty="0">
                <a:solidFill>
                  <a:srgbClr val="15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Интерфейс диспетчера: загрузка</a:t>
            </a:r>
            <a:endParaRPr lang="ru-RU" sz="1500" dirty="0"/>
          </a:p>
        </p:txBody>
      </p:sp>
      <p:sp>
        <p:nvSpPr>
          <p:cNvPr id="23" name="Text 20"/>
          <p:cNvSpPr/>
          <p:nvPr/>
        </p:nvSpPr>
        <p:spPr>
          <a:xfrm>
            <a:off x="7594600" y="2561590"/>
            <a:ext cx="375920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500" dirty="0">
                <a:solidFill>
                  <a:srgbClr val="15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данных, карта, расписание, заявки,</a:t>
            </a:r>
            <a:endParaRPr lang="ru-RU" sz="1500" dirty="0"/>
          </a:p>
        </p:txBody>
      </p:sp>
      <p:sp>
        <p:nvSpPr>
          <p:cNvPr id="24" name="Text 21"/>
          <p:cNvSpPr/>
          <p:nvPr/>
        </p:nvSpPr>
        <p:spPr>
          <a:xfrm>
            <a:off x="7594600" y="2786380"/>
            <a:ext cx="375920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500" dirty="0">
                <a:solidFill>
                  <a:srgbClr val="15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события и метрики.</a:t>
            </a:r>
            <a:endParaRPr lang="ru-RU" sz="1500" dirty="0"/>
          </a:p>
        </p:txBody>
      </p:sp>
      <p:sp>
        <p:nvSpPr>
          <p:cNvPr id="25" name="Shape 22"/>
          <p:cNvSpPr/>
          <p:nvPr/>
        </p:nvSpPr>
        <p:spPr>
          <a:xfrm>
            <a:off x="7594600" y="3390900"/>
            <a:ext cx="3759200" cy="0"/>
          </a:xfrm>
          <a:prstGeom prst="line">
            <a:avLst/>
          </a:prstGeom>
          <a:noFill/>
          <a:ln w="10160">
            <a:solidFill>
              <a:srgbClr val="C8D0D6"/>
            </a:solidFill>
            <a:prstDash val="solid"/>
            <a:headEnd type="none"/>
            <a:tailEnd type="none"/>
          </a:ln>
        </p:spPr>
      </p:sp>
      <p:sp>
        <p:nvSpPr>
          <p:cNvPr id="26" name="Text 23"/>
          <p:cNvSpPr/>
          <p:nvPr/>
        </p:nvSpPr>
        <p:spPr>
          <a:xfrm>
            <a:off x="7594600" y="3606800"/>
            <a:ext cx="3759200" cy="269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700" b="1" dirty="0">
                <a:solidFill>
                  <a:srgbClr val="15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ИСПОЛЬЗУЕТ ОТ ДРУГИХ</a:t>
            </a:r>
            <a:endParaRPr lang="ru-RU" sz="1700" dirty="0"/>
          </a:p>
        </p:txBody>
      </p:sp>
      <p:sp>
        <p:nvSpPr>
          <p:cNvPr id="27" name="Text 24"/>
          <p:cNvSpPr/>
          <p:nvPr/>
        </p:nvSpPr>
        <p:spPr>
          <a:xfrm>
            <a:off x="7594600" y="4000500"/>
            <a:ext cx="375920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500" dirty="0">
                <a:solidFill>
                  <a:srgbClr val="15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/api/v1 от Go-2: команды и данные</a:t>
            </a:r>
            <a:endParaRPr lang="ru-RU" sz="1500" dirty="0"/>
          </a:p>
        </p:txBody>
      </p:sp>
      <p:sp>
        <p:nvSpPr>
          <p:cNvPr id="28" name="Text 25"/>
          <p:cNvSpPr/>
          <p:nvPr/>
        </p:nvSpPr>
        <p:spPr>
          <a:xfrm>
            <a:off x="7594600" y="4225290"/>
            <a:ext cx="375920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500" dirty="0">
                <a:solidFill>
                  <a:srgbClr val="15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инженеров, Run, Plan, Snapshot и</a:t>
            </a:r>
            <a:endParaRPr lang="ru-RU" sz="1500" dirty="0"/>
          </a:p>
        </p:txBody>
      </p:sp>
      <p:sp>
        <p:nvSpPr>
          <p:cNvPr id="29" name="Text 26"/>
          <p:cNvSpPr/>
          <p:nvPr/>
        </p:nvSpPr>
        <p:spPr>
          <a:xfrm>
            <a:off x="7594600" y="4450080"/>
            <a:ext cx="375920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500" dirty="0">
                <a:solidFill>
                  <a:srgbClr val="15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ошибки.</a:t>
            </a:r>
            <a:endParaRPr lang="ru-RU" sz="1500" dirty="0"/>
          </a:p>
        </p:txBody>
      </p:sp>
      <p:sp>
        <p:nvSpPr>
          <p:cNvPr id="30" name="Text 27"/>
          <p:cNvSpPr/>
          <p:nvPr/>
        </p:nvSpPr>
        <p:spPr>
          <a:xfrm>
            <a:off x="609600" y="5461000"/>
            <a:ext cx="10972800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400" b="1" dirty="0">
                <a:solidFill>
                  <a:srgbClr val="15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Расчёт: команда → run_id → опрос Run → загрузка Plan и Snapshot.</a:t>
            </a:r>
            <a:endParaRPr lang="ru-RU" sz="1400" dirty="0"/>
          </a:p>
        </p:txBody>
      </p:sp>
      <p:sp>
        <p:nvSpPr>
          <p:cNvPr id="31" name="Text 28"/>
          <p:cNvSpPr/>
          <p:nvPr/>
        </p:nvSpPr>
        <p:spPr>
          <a:xfrm>
            <a:off x="609600" y="5905500"/>
            <a:ext cx="10972800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400" dirty="0">
                <a:solidFill>
                  <a:srgbClr val="6975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старта: согласованные mock-ответы, включая ошибки и конфликты версий.</a:t>
            </a:r>
            <a:endParaRPr lang="ru-RU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00" y="317500"/>
            <a:ext cx="8636000" cy="158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000" b="1" dirty="0">
                <a:solidFill>
                  <a:srgbClr val="6975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 РАЗРАБОТКИ</a:t>
            </a:r>
            <a:endParaRPr lang="ru-RU" sz="1000" dirty="0"/>
          </a:p>
        </p:txBody>
      </p:sp>
      <p:sp>
        <p:nvSpPr>
          <p:cNvPr id="4" name="Text 1"/>
          <p:cNvSpPr/>
          <p:nvPr/>
        </p:nvSpPr>
        <p:spPr>
          <a:xfrm>
            <a:off x="609600" y="673100"/>
            <a:ext cx="10972800" cy="492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3100" b="1" dirty="0">
                <a:solidFill>
                  <a:srgbClr val="15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Контракты между частями</a:t>
            </a:r>
            <a:endParaRPr lang="ru-RU" sz="3100" dirty="0"/>
          </a:p>
        </p:txBody>
      </p:sp>
      <p:sp>
        <p:nvSpPr>
          <p:cNvPr id="5" name="Text 2"/>
          <p:cNvSpPr/>
          <p:nvPr/>
        </p:nvSpPr>
        <p:spPr>
          <a:xfrm>
            <a:off x="609600" y="1257300"/>
            <a:ext cx="10972800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400" dirty="0">
                <a:solidFill>
                  <a:srgbClr val="6975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Внутри backend — Go-интерфейсы; между Frontend и backend — HTTP/JSON.</a:t>
            </a:r>
            <a:endParaRPr lang="ru-RU" sz="1400" dirty="0"/>
          </a:p>
        </p:txBody>
      </p:sp>
      <p:sp>
        <p:nvSpPr>
          <p:cNvPr id="6" name="Shape 3"/>
          <p:cNvSpPr/>
          <p:nvPr/>
        </p:nvSpPr>
        <p:spPr>
          <a:xfrm>
            <a:off x="609600" y="6413500"/>
            <a:ext cx="10972800" cy="0"/>
          </a:xfrm>
          <a:prstGeom prst="line">
            <a:avLst/>
          </a:prstGeom>
          <a:noFill/>
          <a:ln w="8890">
            <a:solidFill>
              <a:srgbClr val="DDDCD6"/>
            </a:solidFill>
            <a:prstDash val="solid"/>
            <a:headEnd type="none"/>
            <a:tailEnd type="none"/>
          </a:ln>
        </p:spPr>
      </p:sp>
      <p:sp>
        <p:nvSpPr>
          <p:cNvPr id="7" name="Text 4"/>
          <p:cNvSpPr/>
          <p:nvPr/>
        </p:nvSpPr>
        <p:spPr>
          <a:xfrm>
            <a:off x="609600" y="6565900"/>
            <a:ext cx="99695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900" dirty="0">
                <a:solidFill>
                  <a:srgbClr val="6975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docs/contracts/*.md</a:t>
            </a:r>
            <a:endParaRPr lang="ru-RU" sz="900" dirty="0"/>
          </a:p>
        </p:txBody>
      </p:sp>
      <p:sp>
        <p:nvSpPr>
          <p:cNvPr id="8" name="Text 5"/>
          <p:cNvSpPr/>
          <p:nvPr/>
        </p:nvSpPr>
        <p:spPr>
          <a:xfrm>
            <a:off x="10769600" y="6540500"/>
            <a:ext cx="812800" cy="158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ru-RU" altLang="en-US" sz="1000" b="1" dirty="0">
                <a:solidFill>
                  <a:srgbClr val="6975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10</a:t>
            </a:r>
            <a:endParaRPr lang="ru-RU" sz="1000" dirty="0"/>
          </a:p>
        </p:txBody>
      </p:sp>
      <p:sp>
        <p:nvSpPr>
          <p:cNvPr id="9" name="Text 6"/>
          <p:cNvSpPr/>
          <p:nvPr/>
        </p:nvSpPr>
        <p:spPr>
          <a:xfrm>
            <a:off x="609600" y="1701800"/>
            <a:ext cx="2222500" cy="158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000" b="1" dirty="0">
                <a:solidFill>
                  <a:srgbClr val="6975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КТО ВЫЗЫВАЕТ</a:t>
            </a:r>
            <a:endParaRPr lang="ru-RU" sz="1000" dirty="0"/>
          </a:p>
        </p:txBody>
      </p:sp>
      <p:sp>
        <p:nvSpPr>
          <p:cNvPr id="10" name="Text 7"/>
          <p:cNvSpPr/>
          <p:nvPr/>
        </p:nvSpPr>
        <p:spPr>
          <a:xfrm>
            <a:off x="2971800" y="1701800"/>
            <a:ext cx="1917700" cy="158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000" b="1" dirty="0">
                <a:solidFill>
                  <a:srgbClr val="6975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ЧЬЮ ЧАСТЬ</a:t>
            </a:r>
            <a:endParaRPr lang="ru-RU" sz="1000" dirty="0"/>
          </a:p>
        </p:txBody>
      </p:sp>
      <p:sp>
        <p:nvSpPr>
          <p:cNvPr id="11" name="Text 8"/>
          <p:cNvSpPr/>
          <p:nvPr/>
        </p:nvSpPr>
        <p:spPr>
          <a:xfrm>
            <a:off x="5041900" y="1701800"/>
            <a:ext cx="6540500" cy="158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000" b="1" dirty="0">
                <a:solidFill>
                  <a:srgbClr val="6975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КОНТРАКТ И НАЗНАЧЕНИЕ</a:t>
            </a:r>
            <a:endParaRPr lang="ru-RU" sz="1000" dirty="0"/>
          </a:p>
        </p:txBody>
      </p:sp>
      <p:sp>
        <p:nvSpPr>
          <p:cNvPr id="12" name="Shape 9"/>
          <p:cNvSpPr/>
          <p:nvPr/>
        </p:nvSpPr>
        <p:spPr>
          <a:xfrm>
            <a:off x="609600" y="2095500"/>
            <a:ext cx="10972800" cy="571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74700" y="2260600"/>
            <a:ext cx="210820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500" b="1" dirty="0">
                <a:solidFill>
                  <a:srgbClr val="15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ru-RU" sz="1500" dirty="0"/>
          </a:p>
        </p:txBody>
      </p:sp>
      <p:sp>
        <p:nvSpPr>
          <p:cNvPr id="14" name="Text 11"/>
          <p:cNvSpPr/>
          <p:nvPr/>
        </p:nvSpPr>
        <p:spPr>
          <a:xfrm>
            <a:off x="3136900" y="2260600"/>
            <a:ext cx="175260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500" b="1" dirty="0">
                <a:solidFill>
                  <a:srgbClr val="15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Go-2</a:t>
            </a:r>
            <a:endParaRPr lang="ru-RU" sz="1500" dirty="0"/>
          </a:p>
        </p:txBody>
      </p:sp>
      <p:sp>
        <p:nvSpPr>
          <p:cNvPr id="15" name="Text 12"/>
          <p:cNvSpPr/>
          <p:nvPr/>
        </p:nvSpPr>
        <p:spPr>
          <a:xfrm>
            <a:off x="5207000" y="2273300"/>
            <a:ext cx="6184900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300" dirty="0">
                <a:solidFill>
                  <a:srgbClr val="15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/api/v1: данные, расчёт, события, Run и Plan</a:t>
            </a:r>
            <a:endParaRPr lang="ru-RU" sz="1300" dirty="0"/>
          </a:p>
        </p:txBody>
      </p:sp>
      <p:sp>
        <p:nvSpPr>
          <p:cNvPr id="16" name="Shape 13"/>
          <p:cNvSpPr/>
          <p:nvPr/>
        </p:nvSpPr>
        <p:spPr>
          <a:xfrm>
            <a:off x="609600" y="2755900"/>
            <a:ext cx="10972800" cy="571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74700" y="2921000"/>
            <a:ext cx="210820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500" b="1" dirty="0">
                <a:solidFill>
                  <a:srgbClr val="15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Go-2</a:t>
            </a:r>
            <a:endParaRPr lang="ru-RU" sz="1500" dirty="0"/>
          </a:p>
        </p:txBody>
      </p:sp>
      <p:sp>
        <p:nvSpPr>
          <p:cNvPr id="18" name="Text 15"/>
          <p:cNvSpPr/>
          <p:nvPr/>
        </p:nvSpPr>
        <p:spPr>
          <a:xfrm>
            <a:off x="3136900" y="2921000"/>
            <a:ext cx="175260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500" b="1" dirty="0">
                <a:solidFill>
                  <a:srgbClr val="15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Go-4</a:t>
            </a:r>
            <a:endParaRPr lang="ru-RU" sz="1500" dirty="0"/>
          </a:p>
        </p:txBody>
      </p:sp>
      <p:sp>
        <p:nvSpPr>
          <p:cNvPr id="19" name="Text 16"/>
          <p:cNvSpPr/>
          <p:nvPr/>
        </p:nvSpPr>
        <p:spPr>
          <a:xfrm>
            <a:off x="5207000" y="2933700"/>
            <a:ext cx="6184900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300" dirty="0">
                <a:solidFill>
                  <a:srgbClr val="15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PlanService.Build / Replan → PlanResult</a:t>
            </a:r>
            <a:endParaRPr lang="ru-RU" sz="1300" dirty="0"/>
          </a:p>
        </p:txBody>
      </p:sp>
      <p:sp>
        <p:nvSpPr>
          <p:cNvPr id="20" name="Shape 17"/>
          <p:cNvSpPr/>
          <p:nvPr/>
        </p:nvSpPr>
        <p:spPr>
          <a:xfrm>
            <a:off x="609600" y="3416300"/>
            <a:ext cx="10972800" cy="571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74700" y="3581400"/>
            <a:ext cx="210820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500" b="1" dirty="0">
                <a:solidFill>
                  <a:srgbClr val="15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Go-4</a:t>
            </a:r>
            <a:endParaRPr lang="ru-RU" sz="1500" dirty="0"/>
          </a:p>
        </p:txBody>
      </p:sp>
      <p:sp>
        <p:nvSpPr>
          <p:cNvPr id="22" name="Text 19"/>
          <p:cNvSpPr/>
          <p:nvPr/>
        </p:nvSpPr>
        <p:spPr>
          <a:xfrm>
            <a:off x="3136900" y="3581400"/>
            <a:ext cx="175260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500" b="1" dirty="0">
                <a:solidFill>
                  <a:srgbClr val="15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Go-2</a:t>
            </a:r>
            <a:endParaRPr lang="ru-RU" sz="1500" dirty="0"/>
          </a:p>
        </p:txBody>
      </p:sp>
      <p:sp>
        <p:nvSpPr>
          <p:cNvPr id="23" name="Text 20"/>
          <p:cNvSpPr/>
          <p:nvPr/>
        </p:nvSpPr>
        <p:spPr>
          <a:xfrm>
            <a:off x="5207000" y="3594100"/>
            <a:ext cx="6184900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300" dirty="0">
                <a:solidFill>
                  <a:srgbClr val="15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DataStore.GetSnapshot / GetPlan → снимок и план</a:t>
            </a:r>
            <a:endParaRPr lang="ru-RU" sz="1300" dirty="0"/>
          </a:p>
        </p:txBody>
      </p:sp>
      <p:sp>
        <p:nvSpPr>
          <p:cNvPr id="24" name="Shape 21"/>
          <p:cNvSpPr/>
          <p:nvPr/>
        </p:nvSpPr>
        <p:spPr>
          <a:xfrm>
            <a:off x="609600" y="4076700"/>
            <a:ext cx="10972800" cy="571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74700" y="4241800"/>
            <a:ext cx="210820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500" b="1" dirty="0">
                <a:solidFill>
                  <a:srgbClr val="15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Go-2, Go-4</a:t>
            </a:r>
            <a:endParaRPr lang="ru-RU" sz="1500" dirty="0"/>
          </a:p>
        </p:txBody>
      </p:sp>
      <p:sp>
        <p:nvSpPr>
          <p:cNvPr id="26" name="Text 23"/>
          <p:cNvSpPr/>
          <p:nvPr/>
        </p:nvSpPr>
        <p:spPr>
          <a:xfrm>
            <a:off x="3136900" y="4241800"/>
            <a:ext cx="175260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500" b="1" dirty="0">
                <a:solidFill>
                  <a:srgbClr val="15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Go-3</a:t>
            </a:r>
            <a:endParaRPr lang="ru-RU" sz="1500" dirty="0"/>
          </a:p>
        </p:txBody>
      </p:sp>
      <p:sp>
        <p:nvSpPr>
          <p:cNvPr id="27" name="Text 24"/>
          <p:cNvSpPr/>
          <p:nvPr/>
        </p:nvSpPr>
        <p:spPr>
          <a:xfrm>
            <a:off x="5207000" y="4254500"/>
            <a:ext cx="6184900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300" dirty="0">
                <a:solidFill>
                  <a:srgbClr val="15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GeoService: адреса, матрицы, маршруты, положение</a:t>
            </a:r>
            <a:endParaRPr lang="ru-RU" sz="1300" dirty="0"/>
          </a:p>
        </p:txBody>
      </p:sp>
      <p:sp>
        <p:nvSpPr>
          <p:cNvPr id="28" name="Shape 25"/>
          <p:cNvSpPr/>
          <p:nvPr/>
        </p:nvSpPr>
        <p:spPr>
          <a:xfrm>
            <a:off x="609600" y="4737100"/>
            <a:ext cx="10972800" cy="571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74700" y="4902200"/>
            <a:ext cx="210820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500" b="1" dirty="0">
                <a:solidFill>
                  <a:srgbClr val="15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Go-4</a:t>
            </a:r>
            <a:endParaRPr lang="ru-RU" sz="1500" dirty="0"/>
          </a:p>
        </p:txBody>
      </p:sp>
      <p:sp>
        <p:nvSpPr>
          <p:cNvPr id="30" name="Text 27"/>
          <p:cNvSpPr/>
          <p:nvPr/>
        </p:nvSpPr>
        <p:spPr>
          <a:xfrm>
            <a:off x="3136900" y="4902200"/>
            <a:ext cx="175260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500" b="1" dirty="0">
                <a:solidFill>
                  <a:srgbClr val="15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Go-1</a:t>
            </a:r>
            <a:endParaRPr lang="ru-RU" sz="1500" dirty="0"/>
          </a:p>
        </p:txBody>
      </p:sp>
      <p:sp>
        <p:nvSpPr>
          <p:cNvPr id="31" name="Text 28"/>
          <p:cNvSpPr/>
          <p:nvPr/>
        </p:nvSpPr>
        <p:spPr>
          <a:xfrm>
            <a:off x="5207000" y="4914900"/>
            <a:ext cx="6184900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300" dirty="0">
                <a:solidFill>
                  <a:srgbClr val="15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Planner.Solve(SolveRequest) → SolveResult</a:t>
            </a:r>
            <a:endParaRPr lang="ru-RU" sz="1300" dirty="0"/>
          </a:p>
        </p:txBody>
      </p:sp>
      <p:sp>
        <p:nvSpPr>
          <p:cNvPr id="32" name="Shape 29"/>
          <p:cNvSpPr/>
          <p:nvPr/>
        </p:nvSpPr>
        <p:spPr>
          <a:xfrm>
            <a:off x="609600" y="5537200"/>
            <a:ext cx="10972800" cy="723900"/>
          </a:xfrm>
          <a:prstGeom prst="rect">
            <a:avLst/>
          </a:prstGeom>
          <a:solidFill>
            <a:srgbClr val="E7ECEF"/>
          </a:solidFill>
          <a:ln w="12700">
            <a:solidFill>
              <a:srgbClr val="E7ECEF">
                <a:alpha val="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00100" y="5689600"/>
            <a:ext cx="10541000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400" b="1" dirty="0">
                <a:solidFill>
                  <a:srgbClr val="15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Сохранение: Go-2 получает PlanResult от Go-4 и вызывает DataStore.CommitPlan.</a:t>
            </a:r>
            <a:endParaRPr lang="ru-RU" sz="1400" dirty="0"/>
          </a:p>
        </p:txBody>
      </p:sp>
      <p:sp>
        <p:nvSpPr>
          <p:cNvPr id="34" name="Text 31"/>
          <p:cNvSpPr/>
          <p:nvPr/>
        </p:nvSpPr>
        <p:spPr>
          <a:xfrm>
            <a:off x="800100" y="5994400"/>
            <a:ext cx="10541000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300" dirty="0">
                <a:solidFill>
                  <a:srgbClr val="6975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Go-4 проверяет и возвращает результат; Go-2 сохраняет новую версию.</a:t>
            </a:r>
            <a:endParaRPr lang="ru-RU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00" y="317500"/>
            <a:ext cx="8636000" cy="158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000" b="1" dirty="0">
                <a:solidFill>
                  <a:srgbClr val="6975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 РАЗРАБОТКИ</a:t>
            </a:r>
            <a:endParaRPr lang="ru-RU" sz="1000" dirty="0"/>
          </a:p>
        </p:txBody>
      </p:sp>
      <p:sp>
        <p:nvSpPr>
          <p:cNvPr id="4" name="Text 1"/>
          <p:cNvSpPr/>
          <p:nvPr/>
        </p:nvSpPr>
        <p:spPr>
          <a:xfrm>
            <a:off x="609600" y="673100"/>
            <a:ext cx="10972800" cy="492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3100" b="1" dirty="0">
                <a:solidFill>
                  <a:srgbClr val="15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Параллельная разработка</a:t>
            </a:r>
            <a:endParaRPr lang="ru-RU" sz="3100" dirty="0"/>
          </a:p>
        </p:txBody>
      </p:sp>
      <p:sp>
        <p:nvSpPr>
          <p:cNvPr id="5" name="Text 2"/>
          <p:cNvSpPr/>
          <p:nvPr/>
        </p:nvSpPr>
        <p:spPr>
          <a:xfrm>
            <a:off x="609600" y="1257300"/>
            <a:ext cx="10972800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400" dirty="0">
                <a:solidFill>
                  <a:srgbClr val="6975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Перед началом: общие модели, единицы измерения, интерфейсы и примеры входов / выходов.</a:t>
            </a:r>
            <a:endParaRPr lang="ru-RU" sz="1400" dirty="0"/>
          </a:p>
        </p:txBody>
      </p:sp>
      <p:sp>
        <p:nvSpPr>
          <p:cNvPr id="6" name="Shape 3"/>
          <p:cNvSpPr/>
          <p:nvPr/>
        </p:nvSpPr>
        <p:spPr>
          <a:xfrm>
            <a:off x="609600" y="6413500"/>
            <a:ext cx="10972800" cy="0"/>
          </a:xfrm>
          <a:prstGeom prst="line">
            <a:avLst/>
          </a:prstGeom>
          <a:noFill/>
          <a:ln w="8890">
            <a:solidFill>
              <a:srgbClr val="DDDCD6"/>
            </a:solidFill>
            <a:prstDash val="solid"/>
            <a:headEnd type="none"/>
            <a:tailEnd type="none"/>
          </a:ln>
        </p:spPr>
      </p:sp>
      <p:sp>
        <p:nvSpPr>
          <p:cNvPr id="7" name="Text 4"/>
          <p:cNvSpPr/>
          <p:nvPr/>
        </p:nvSpPr>
        <p:spPr>
          <a:xfrm>
            <a:off x="609600" y="6565900"/>
            <a:ext cx="99695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900" dirty="0">
                <a:solidFill>
                  <a:srgbClr val="6975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docs/work_breakdown.md · docs/contracts/*.md</a:t>
            </a:r>
            <a:endParaRPr lang="ru-RU" sz="900" dirty="0"/>
          </a:p>
        </p:txBody>
      </p:sp>
      <p:sp>
        <p:nvSpPr>
          <p:cNvPr id="8" name="Text 5"/>
          <p:cNvSpPr/>
          <p:nvPr/>
        </p:nvSpPr>
        <p:spPr>
          <a:xfrm>
            <a:off x="10769600" y="6540500"/>
            <a:ext cx="812800" cy="158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ru-RU" altLang="en-US" sz="1000" b="1" dirty="0">
                <a:solidFill>
                  <a:srgbClr val="6975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10</a:t>
            </a:r>
            <a:endParaRPr lang="ru-RU" sz="1000" dirty="0"/>
          </a:p>
        </p:txBody>
      </p:sp>
      <p:sp>
        <p:nvSpPr>
          <p:cNvPr id="9" name="Text 6"/>
          <p:cNvSpPr/>
          <p:nvPr/>
        </p:nvSpPr>
        <p:spPr>
          <a:xfrm>
            <a:off x="609600" y="1765300"/>
            <a:ext cx="1536700" cy="158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000" b="1" dirty="0">
                <a:solidFill>
                  <a:srgbClr val="6975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ИСПОЛНИТЕЛЬ</a:t>
            </a:r>
            <a:endParaRPr lang="ru-RU" sz="1000" dirty="0"/>
          </a:p>
        </p:txBody>
      </p:sp>
      <p:sp>
        <p:nvSpPr>
          <p:cNvPr id="10" name="Text 7"/>
          <p:cNvSpPr/>
          <p:nvPr/>
        </p:nvSpPr>
        <p:spPr>
          <a:xfrm>
            <a:off x="2286000" y="1765300"/>
            <a:ext cx="4546600" cy="158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000" b="1" dirty="0">
                <a:solidFill>
                  <a:srgbClr val="6975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 ЧЕМ НАЧИНАЕТ НЕЗАВИСИМО</a:t>
            </a:r>
            <a:endParaRPr lang="ru-RU" sz="1000" dirty="0"/>
          </a:p>
        </p:txBody>
      </p:sp>
      <p:sp>
        <p:nvSpPr>
          <p:cNvPr id="11" name="Text 8"/>
          <p:cNvSpPr/>
          <p:nvPr/>
        </p:nvSpPr>
        <p:spPr>
          <a:xfrm>
            <a:off x="7010400" y="1765300"/>
            <a:ext cx="4572000" cy="158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000" b="1" dirty="0">
                <a:solidFill>
                  <a:srgbClr val="6975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ПОДКЛЮЧАЕТ ПРИ ИНТЕГРАЦИИ</a:t>
            </a:r>
            <a:endParaRPr lang="ru-RU" sz="1000" dirty="0"/>
          </a:p>
        </p:txBody>
      </p:sp>
      <p:sp>
        <p:nvSpPr>
          <p:cNvPr id="12" name="Shape 9"/>
          <p:cNvSpPr/>
          <p:nvPr/>
        </p:nvSpPr>
        <p:spPr>
          <a:xfrm>
            <a:off x="609600" y="2197100"/>
            <a:ext cx="109728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74700" y="2387600"/>
            <a:ext cx="1422400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400" b="1" dirty="0">
                <a:solidFill>
                  <a:srgbClr val="15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Go-1</a:t>
            </a:r>
            <a:endParaRPr lang="ru-RU" sz="1400" dirty="0"/>
          </a:p>
        </p:txBody>
      </p:sp>
      <p:sp>
        <p:nvSpPr>
          <p:cNvPr id="14" name="Text 11"/>
          <p:cNvSpPr/>
          <p:nvPr/>
        </p:nvSpPr>
        <p:spPr>
          <a:xfrm>
            <a:off x="2451100" y="2324100"/>
            <a:ext cx="4318000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300" dirty="0">
                <a:solidFill>
                  <a:srgbClr val="15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Заявки, инженеры, фиксированная матрица</a:t>
            </a:r>
            <a:endParaRPr lang="ru-RU" sz="1300" dirty="0"/>
          </a:p>
        </p:txBody>
      </p:sp>
      <p:sp>
        <p:nvSpPr>
          <p:cNvPr id="15" name="Text 12"/>
          <p:cNvSpPr/>
          <p:nvPr/>
        </p:nvSpPr>
        <p:spPr>
          <a:xfrm>
            <a:off x="7175500" y="2324100"/>
            <a:ext cx="4216400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300" dirty="0">
                <a:solidFill>
                  <a:srgbClr val="15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Подготовленную задачу от Go-4</a:t>
            </a:r>
            <a:endParaRPr lang="ru-RU" sz="1300" dirty="0"/>
          </a:p>
        </p:txBody>
      </p:sp>
      <p:sp>
        <p:nvSpPr>
          <p:cNvPr id="16" name="Shape 13"/>
          <p:cNvSpPr/>
          <p:nvPr/>
        </p:nvSpPr>
        <p:spPr>
          <a:xfrm>
            <a:off x="609600" y="2895600"/>
            <a:ext cx="109728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74700" y="3086100"/>
            <a:ext cx="1422400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400" b="1" dirty="0">
                <a:solidFill>
                  <a:srgbClr val="15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Go-2</a:t>
            </a:r>
            <a:endParaRPr lang="ru-RU" sz="1400" dirty="0"/>
          </a:p>
        </p:txBody>
      </p:sp>
      <p:sp>
        <p:nvSpPr>
          <p:cNvPr id="18" name="Text 15"/>
          <p:cNvSpPr/>
          <p:nvPr/>
        </p:nvSpPr>
        <p:spPr>
          <a:xfrm>
            <a:off x="2451100" y="3022600"/>
            <a:ext cx="4318000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300" dirty="0">
                <a:solidFill>
                  <a:srgbClr val="15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Заглушка PlanService, готовые координаты</a:t>
            </a:r>
            <a:endParaRPr lang="ru-RU" sz="1300" dirty="0"/>
          </a:p>
        </p:txBody>
      </p:sp>
      <p:sp>
        <p:nvSpPr>
          <p:cNvPr id="19" name="Text 16"/>
          <p:cNvSpPr/>
          <p:nvPr/>
        </p:nvSpPr>
        <p:spPr>
          <a:xfrm>
            <a:off x="7175500" y="3022600"/>
            <a:ext cx="4216400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300" dirty="0">
                <a:solidFill>
                  <a:srgbClr val="15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PlanService Go-4 и Geocode Go-3</a:t>
            </a:r>
            <a:endParaRPr lang="ru-RU" sz="1300" dirty="0"/>
          </a:p>
        </p:txBody>
      </p:sp>
      <p:sp>
        <p:nvSpPr>
          <p:cNvPr id="20" name="Shape 17"/>
          <p:cNvSpPr/>
          <p:nvPr/>
        </p:nvSpPr>
        <p:spPr>
          <a:xfrm>
            <a:off x="609600" y="3594100"/>
            <a:ext cx="109728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74700" y="3784600"/>
            <a:ext cx="1422400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400" b="1" dirty="0">
                <a:solidFill>
                  <a:srgbClr val="15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Go-3</a:t>
            </a:r>
            <a:endParaRPr lang="ru-RU" sz="1400" dirty="0"/>
          </a:p>
        </p:txBody>
      </p:sp>
      <p:sp>
        <p:nvSpPr>
          <p:cNvPr id="22" name="Text 19"/>
          <p:cNvSpPr/>
          <p:nvPr/>
        </p:nvSpPr>
        <p:spPr>
          <a:xfrm>
            <a:off x="2451100" y="3721100"/>
            <a:ext cx="4318000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300" dirty="0">
                <a:solidFill>
                  <a:srgbClr val="15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Адреса, точки и участки для расчётов</a:t>
            </a:r>
            <a:endParaRPr lang="ru-RU" sz="1300" dirty="0"/>
          </a:p>
        </p:txBody>
      </p:sp>
      <p:sp>
        <p:nvSpPr>
          <p:cNvPr id="23" name="Text 20"/>
          <p:cNvSpPr/>
          <p:nvPr/>
        </p:nvSpPr>
        <p:spPr>
          <a:xfrm>
            <a:off x="7175500" y="3721100"/>
            <a:ext cx="4216400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300" dirty="0">
                <a:solidFill>
                  <a:srgbClr val="15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Вызовы Go-2 и Go-4</a:t>
            </a:r>
            <a:endParaRPr lang="ru-RU" sz="1300" dirty="0"/>
          </a:p>
        </p:txBody>
      </p:sp>
      <p:sp>
        <p:nvSpPr>
          <p:cNvPr id="24" name="Shape 21"/>
          <p:cNvSpPr/>
          <p:nvPr/>
        </p:nvSpPr>
        <p:spPr>
          <a:xfrm>
            <a:off x="609600" y="4292600"/>
            <a:ext cx="109728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74700" y="4483100"/>
            <a:ext cx="1422400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400" b="1" dirty="0">
                <a:solidFill>
                  <a:srgbClr val="15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Go-4</a:t>
            </a:r>
            <a:endParaRPr lang="ru-RU" sz="1400" dirty="0"/>
          </a:p>
        </p:txBody>
      </p:sp>
      <p:sp>
        <p:nvSpPr>
          <p:cNvPr id="26" name="Text 23"/>
          <p:cNvSpPr/>
          <p:nvPr/>
        </p:nvSpPr>
        <p:spPr>
          <a:xfrm>
            <a:off x="2451100" y="4419600"/>
            <a:ext cx="4318000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300" dirty="0">
                <a:solidFill>
                  <a:srgbClr val="15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Готовые планы, заглушки зависимостей</a:t>
            </a:r>
            <a:endParaRPr lang="ru-RU" sz="1300" dirty="0"/>
          </a:p>
        </p:txBody>
      </p:sp>
      <p:sp>
        <p:nvSpPr>
          <p:cNvPr id="27" name="Text 24"/>
          <p:cNvSpPr/>
          <p:nvPr/>
        </p:nvSpPr>
        <p:spPr>
          <a:xfrm>
            <a:off x="7175500" y="4419600"/>
            <a:ext cx="4216400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300" dirty="0">
                <a:solidFill>
                  <a:srgbClr val="15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DataStore, GeoService и Planner</a:t>
            </a:r>
            <a:endParaRPr lang="ru-RU" sz="1300" dirty="0"/>
          </a:p>
        </p:txBody>
      </p:sp>
      <p:sp>
        <p:nvSpPr>
          <p:cNvPr id="28" name="Shape 25"/>
          <p:cNvSpPr/>
          <p:nvPr/>
        </p:nvSpPr>
        <p:spPr>
          <a:xfrm>
            <a:off x="609600" y="4991100"/>
            <a:ext cx="109728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74700" y="5181600"/>
            <a:ext cx="1422400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400" b="1" dirty="0">
                <a:solidFill>
                  <a:srgbClr val="15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ru-RU" sz="1400" dirty="0"/>
          </a:p>
        </p:txBody>
      </p:sp>
      <p:sp>
        <p:nvSpPr>
          <p:cNvPr id="30" name="Text 27"/>
          <p:cNvSpPr/>
          <p:nvPr/>
        </p:nvSpPr>
        <p:spPr>
          <a:xfrm>
            <a:off x="2451100" y="5118100"/>
            <a:ext cx="4318000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300" dirty="0">
                <a:solidFill>
                  <a:srgbClr val="15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Согласованные mock-ответы API</a:t>
            </a:r>
            <a:endParaRPr lang="ru-RU" sz="1300" dirty="0"/>
          </a:p>
        </p:txBody>
      </p:sp>
      <p:sp>
        <p:nvSpPr>
          <p:cNvPr id="31" name="Text 28"/>
          <p:cNvSpPr/>
          <p:nvPr/>
        </p:nvSpPr>
        <p:spPr>
          <a:xfrm>
            <a:off x="7175500" y="5118100"/>
            <a:ext cx="4216400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300" dirty="0">
                <a:solidFill>
                  <a:srgbClr val="15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Реальный HTTP API Go-2</a:t>
            </a:r>
            <a:endParaRPr lang="ru-RU" sz="1300" dirty="0"/>
          </a:p>
        </p:txBody>
      </p:sp>
      <p:sp>
        <p:nvSpPr>
          <p:cNvPr id="32" name="Text 29"/>
          <p:cNvSpPr/>
          <p:nvPr/>
        </p:nvSpPr>
        <p:spPr>
          <a:xfrm>
            <a:off x="609600" y="5994400"/>
            <a:ext cx="1097280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500" b="1" dirty="0">
                <a:solidFill>
                  <a:srgbClr val="15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Go-1 и Go-4 совместно согласуют правила допустимости плана.</a:t>
            </a:r>
            <a:endParaRPr lang="ru-RU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00" y="317500"/>
            <a:ext cx="8636000" cy="158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000" b="1" dirty="0">
                <a:solidFill>
                  <a:srgbClr val="6975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 РАЗРАБОТКИ</a:t>
            </a:r>
            <a:endParaRPr lang="ru-RU" sz="1000" dirty="0"/>
          </a:p>
        </p:txBody>
      </p:sp>
      <p:sp>
        <p:nvSpPr>
          <p:cNvPr id="4" name="Text 1"/>
          <p:cNvSpPr/>
          <p:nvPr/>
        </p:nvSpPr>
        <p:spPr>
          <a:xfrm>
            <a:off x="609600" y="673100"/>
            <a:ext cx="10972800" cy="492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3100" b="1" dirty="0">
                <a:solidFill>
                  <a:srgbClr val="15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Интеграция и ответственность</a:t>
            </a:r>
            <a:endParaRPr lang="ru-RU" sz="3100" dirty="0"/>
          </a:p>
        </p:txBody>
      </p:sp>
      <p:sp>
        <p:nvSpPr>
          <p:cNvPr id="5" name="Text 2"/>
          <p:cNvSpPr/>
          <p:nvPr/>
        </p:nvSpPr>
        <p:spPr>
          <a:xfrm>
            <a:off x="609600" y="1257300"/>
            <a:ext cx="10972800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400" dirty="0">
                <a:solidFill>
                  <a:srgbClr val="6975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Рано собираем полный сценарий на базовом алгоритме, затем подключаем оптимизацию и события.</a:t>
            </a:r>
            <a:endParaRPr lang="ru-RU" sz="1400" dirty="0"/>
          </a:p>
        </p:txBody>
      </p:sp>
      <p:sp>
        <p:nvSpPr>
          <p:cNvPr id="6" name="Shape 3"/>
          <p:cNvSpPr/>
          <p:nvPr/>
        </p:nvSpPr>
        <p:spPr>
          <a:xfrm>
            <a:off x="609600" y="6413500"/>
            <a:ext cx="10972800" cy="0"/>
          </a:xfrm>
          <a:prstGeom prst="line">
            <a:avLst/>
          </a:prstGeom>
          <a:noFill/>
          <a:ln w="8890">
            <a:solidFill>
              <a:srgbClr val="DDDCD6"/>
            </a:solidFill>
            <a:prstDash val="solid"/>
            <a:headEnd type="none"/>
            <a:tailEnd type="none"/>
          </a:ln>
        </p:spPr>
      </p:sp>
      <p:sp>
        <p:nvSpPr>
          <p:cNvPr id="7" name="Text 4"/>
          <p:cNvSpPr/>
          <p:nvPr/>
        </p:nvSpPr>
        <p:spPr>
          <a:xfrm>
            <a:off x="609600" y="6565900"/>
            <a:ext cx="99695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900" dirty="0">
                <a:solidFill>
                  <a:srgbClr val="6975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docs/work_breakdown.md</a:t>
            </a:r>
            <a:endParaRPr lang="ru-RU" sz="900" dirty="0"/>
          </a:p>
        </p:txBody>
      </p:sp>
      <p:sp>
        <p:nvSpPr>
          <p:cNvPr id="8" name="Text 5"/>
          <p:cNvSpPr/>
          <p:nvPr/>
        </p:nvSpPr>
        <p:spPr>
          <a:xfrm>
            <a:off x="10769600" y="6540500"/>
            <a:ext cx="812800" cy="158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ru-RU" altLang="en-US" sz="1000" b="1" dirty="0">
                <a:solidFill>
                  <a:srgbClr val="6975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10</a:t>
            </a:r>
            <a:endParaRPr lang="ru-RU" sz="1000" dirty="0"/>
          </a:p>
        </p:txBody>
      </p:sp>
      <p:sp>
        <p:nvSpPr>
          <p:cNvPr id="9" name="Text 6"/>
          <p:cNvSpPr/>
          <p:nvPr/>
        </p:nvSpPr>
        <p:spPr>
          <a:xfrm>
            <a:off x="609600" y="1752600"/>
            <a:ext cx="1270000" cy="158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000" b="1" dirty="0">
                <a:solidFill>
                  <a:srgbClr val="6975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ПОРЯДОК</a:t>
            </a:r>
            <a:endParaRPr lang="ru-RU" sz="1000" dirty="0"/>
          </a:p>
        </p:txBody>
      </p:sp>
      <p:sp>
        <p:nvSpPr>
          <p:cNvPr id="10" name="Text 7"/>
          <p:cNvSpPr/>
          <p:nvPr/>
        </p:nvSpPr>
        <p:spPr>
          <a:xfrm>
            <a:off x="2044700" y="1752600"/>
            <a:ext cx="5956300" cy="158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000" b="1" dirty="0">
                <a:solidFill>
                  <a:srgbClr val="6975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СОСТАВ РАБОТ</a:t>
            </a:r>
            <a:endParaRPr lang="ru-RU" sz="1000" dirty="0"/>
          </a:p>
        </p:txBody>
      </p:sp>
      <p:sp>
        <p:nvSpPr>
          <p:cNvPr id="11" name="Text 8"/>
          <p:cNvSpPr/>
          <p:nvPr/>
        </p:nvSpPr>
        <p:spPr>
          <a:xfrm>
            <a:off x="8191500" y="1752600"/>
            <a:ext cx="3390900" cy="158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000" b="1" dirty="0">
                <a:solidFill>
                  <a:srgbClr val="6975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ОТВЕТСТВЕННЫЕ</a:t>
            </a:r>
            <a:endParaRPr lang="ru-RU" sz="1000" dirty="0"/>
          </a:p>
        </p:txBody>
      </p:sp>
      <p:sp>
        <p:nvSpPr>
          <p:cNvPr id="12" name="Shape 9"/>
          <p:cNvSpPr/>
          <p:nvPr/>
        </p:nvSpPr>
        <p:spPr>
          <a:xfrm>
            <a:off x="609600" y="2197100"/>
            <a:ext cx="10972800" cy="7493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5500" y="2400300"/>
            <a:ext cx="889000" cy="349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2200" b="1" dirty="0">
                <a:solidFill>
                  <a:srgbClr val="15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ru-RU" sz="2200" dirty="0"/>
          </a:p>
        </p:txBody>
      </p:sp>
      <p:sp>
        <p:nvSpPr>
          <p:cNvPr id="14" name="Text 11"/>
          <p:cNvSpPr/>
          <p:nvPr/>
        </p:nvSpPr>
        <p:spPr>
          <a:xfrm>
            <a:off x="2209800" y="2336800"/>
            <a:ext cx="5664200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400" dirty="0">
                <a:solidFill>
                  <a:srgbClr val="15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Общие типы, интерфейсы и примеры данных</a:t>
            </a:r>
            <a:endParaRPr lang="ru-RU" sz="1400" dirty="0"/>
          </a:p>
        </p:txBody>
      </p:sp>
      <p:sp>
        <p:nvSpPr>
          <p:cNvPr id="15" name="Text 12"/>
          <p:cNvSpPr/>
          <p:nvPr/>
        </p:nvSpPr>
        <p:spPr>
          <a:xfrm>
            <a:off x="8356600" y="2324100"/>
            <a:ext cx="3073400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300" dirty="0">
                <a:solidFill>
                  <a:srgbClr val="15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разработчики</a:t>
            </a:r>
            <a:endParaRPr lang="ru-RU" sz="1300" dirty="0"/>
          </a:p>
        </p:txBody>
      </p:sp>
      <p:sp>
        <p:nvSpPr>
          <p:cNvPr id="16" name="Shape 13"/>
          <p:cNvSpPr/>
          <p:nvPr/>
        </p:nvSpPr>
        <p:spPr>
          <a:xfrm>
            <a:off x="609600" y="3048000"/>
            <a:ext cx="10972800" cy="7493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5500" y="3251200"/>
            <a:ext cx="889000" cy="349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2200" b="1" dirty="0">
                <a:solidFill>
                  <a:srgbClr val="15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ru-RU" sz="2200" dirty="0"/>
          </a:p>
        </p:txBody>
      </p:sp>
      <p:sp>
        <p:nvSpPr>
          <p:cNvPr id="18" name="Text 15"/>
          <p:cNvSpPr/>
          <p:nvPr/>
        </p:nvSpPr>
        <p:spPr>
          <a:xfrm>
            <a:off x="2209800" y="3187700"/>
            <a:ext cx="5664200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400" dirty="0">
                <a:solidFill>
                  <a:srgbClr val="15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Данные → базовый расчёт → проверка и метрики → карта и</a:t>
            </a:r>
            <a:endParaRPr lang="ru-RU" sz="1400" dirty="0"/>
          </a:p>
        </p:txBody>
      </p:sp>
      <p:sp>
        <p:nvSpPr>
          <p:cNvPr id="19" name="Text 16"/>
          <p:cNvSpPr/>
          <p:nvPr/>
        </p:nvSpPr>
        <p:spPr>
          <a:xfrm>
            <a:off x="2209800" y="3397504"/>
            <a:ext cx="5664200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400" dirty="0">
                <a:solidFill>
                  <a:srgbClr val="15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расписание</a:t>
            </a:r>
            <a:endParaRPr lang="ru-RU" sz="1400" dirty="0"/>
          </a:p>
        </p:txBody>
      </p:sp>
      <p:sp>
        <p:nvSpPr>
          <p:cNvPr id="20" name="Text 17"/>
          <p:cNvSpPr/>
          <p:nvPr/>
        </p:nvSpPr>
        <p:spPr>
          <a:xfrm>
            <a:off x="8356600" y="3175000"/>
            <a:ext cx="3073400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300" dirty="0">
                <a:solidFill>
                  <a:srgbClr val="15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Go-2 — сборка; каждый — свой</a:t>
            </a:r>
            <a:endParaRPr lang="ru-RU" sz="1300" dirty="0"/>
          </a:p>
        </p:txBody>
      </p:sp>
      <p:sp>
        <p:nvSpPr>
          <p:cNvPr id="21" name="Text 18"/>
          <p:cNvSpPr/>
          <p:nvPr/>
        </p:nvSpPr>
        <p:spPr>
          <a:xfrm>
            <a:off x="8356600" y="3369818"/>
            <a:ext cx="3073400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300" dirty="0">
                <a:solidFill>
                  <a:srgbClr val="15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модуль</a:t>
            </a:r>
            <a:endParaRPr lang="ru-RU" sz="1300" dirty="0"/>
          </a:p>
        </p:txBody>
      </p:sp>
      <p:sp>
        <p:nvSpPr>
          <p:cNvPr id="22" name="Shape 19"/>
          <p:cNvSpPr/>
          <p:nvPr/>
        </p:nvSpPr>
        <p:spPr>
          <a:xfrm>
            <a:off x="609600" y="3898900"/>
            <a:ext cx="10972800" cy="7493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25500" y="4102100"/>
            <a:ext cx="889000" cy="349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2200" b="1" dirty="0">
                <a:solidFill>
                  <a:srgbClr val="15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ru-RU" sz="2200" dirty="0"/>
          </a:p>
        </p:txBody>
      </p:sp>
      <p:sp>
        <p:nvSpPr>
          <p:cNvPr id="24" name="Text 21"/>
          <p:cNvSpPr/>
          <p:nvPr/>
        </p:nvSpPr>
        <p:spPr>
          <a:xfrm>
            <a:off x="2209800" y="4038600"/>
            <a:ext cx="5664200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400" dirty="0">
                <a:solidFill>
                  <a:srgbClr val="15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Оптимизация и сравнение с базовым результатом</a:t>
            </a:r>
            <a:endParaRPr lang="ru-RU" sz="1400" dirty="0"/>
          </a:p>
        </p:txBody>
      </p:sp>
      <p:sp>
        <p:nvSpPr>
          <p:cNvPr id="25" name="Text 22"/>
          <p:cNvSpPr/>
          <p:nvPr/>
        </p:nvSpPr>
        <p:spPr>
          <a:xfrm>
            <a:off x="8356600" y="4025900"/>
            <a:ext cx="3073400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300" dirty="0">
                <a:solidFill>
                  <a:srgbClr val="15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Go-1 — расчёт; Go-4 — проверка;</a:t>
            </a:r>
            <a:endParaRPr lang="ru-RU" sz="1300" dirty="0"/>
          </a:p>
        </p:txBody>
      </p:sp>
      <p:sp>
        <p:nvSpPr>
          <p:cNvPr id="26" name="Text 23"/>
          <p:cNvSpPr/>
          <p:nvPr/>
        </p:nvSpPr>
        <p:spPr>
          <a:xfrm>
            <a:off x="8356600" y="4220718"/>
            <a:ext cx="3073400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300" dirty="0">
                <a:solidFill>
                  <a:srgbClr val="15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— показ</a:t>
            </a:r>
            <a:endParaRPr lang="ru-RU" sz="1300" dirty="0"/>
          </a:p>
        </p:txBody>
      </p:sp>
      <p:sp>
        <p:nvSpPr>
          <p:cNvPr id="27" name="Shape 24"/>
          <p:cNvSpPr/>
          <p:nvPr/>
        </p:nvSpPr>
        <p:spPr>
          <a:xfrm>
            <a:off x="609600" y="4749800"/>
            <a:ext cx="10972800" cy="7493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25500" y="4953000"/>
            <a:ext cx="889000" cy="349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2200" b="1" dirty="0">
                <a:solidFill>
                  <a:srgbClr val="15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ru-RU" sz="2200" dirty="0"/>
          </a:p>
        </p:txBody>
      </p:sp>
      <p:sp>
        <p:nvSpPr>
          <p:cNvPr id="29" name="Text 26"/>
          <p:cNvSpPr/>
          <p:nvPr/>
        </p:nvSpPr>
        <p:spPr>
          <a:xfrm>
            <a:off x="2209800" y="4889500"/>
            <a:ext cx="5664200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400" dirty="0">
                <a:solidFill>
                  <a:srgbClr val="15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события → новый план → изменения и метрики</a:t>
            </a:r>
            <a:endParaRPr lang="ru-RU" sz="1400" dirty="0"/>
          </a:p>
        </p:txBody>
      </p:sp>
      <p:sp>
        <p:nvSpPr>
          <p:cNvPr id="30" name="Text 27"/>
          <p:cNvSpPr/>
          <p:nvPr/>
        </p:nvSpPr>
        <p:spPr>
          <a:xfrm>
            <a:off x="8356600" y="4876800"/>
            <a:ext cx="3073400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300" dirty="0">
                <a:solidFill>
                  <a:srgbClr val="15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Go-4 — процесс; Go-2 — сохранение;</a:t>
            </a:r>
            <a:endParaRPr lang="ru-RU" sz="1300" dirty="0"/>
          </a:p>
        </p:txBody>
      </p:sp>
      <p:sp>
        <p:nvSpPr>
          <p:cNvPr id="31" name="Text 28"/>
          <p:cNvSpPr/>
          <p:nvPr/>
        </p:nvSpPr>
        <p:spPr>
          <a:xfrm>
            <a:off x="8356600" y="5071618"/>
            <a:ext cx="3073400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300" dirty="0">
                <a:solidFill>
                  <a:srgbClr val="15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— формы</a:t>
            </a:r>
            <a:endParaRPr lang="ru-RU" sz="1300" dirty="0"/>
          </a:p>
        </p:txBody>
      </p:sp>
      <p:sp>
        <p:nvSpPr>
          <p:cNvPr id="32" name="Shape 29"/>
          <p:cNvSpPr/>
          <p:nvPr/>
        </p:nvSpPr>
        <p:spPr>
          <a:xfrm>
            <a:off x="609600" y="5778500"/>
            <a:ext cx="10972800" cy="469900"/>
          </a:xfrm>
          <a:prstGeom prst="rect">
            <a:avLst/>
          </a:prstGeom>
          <a:solidFill>
            <a:srgbClr val="E7ECEF"/>
          </a:solidFill>
          <a:ln w="12700">
            <a:solidFill>
              <a:srgbClr val="E7ECEF">
                <a:alpha val="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87400" y="5905500"/>
            <a:ext cx="10617200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300" b="1" dirty="0">
                <a:solidFill>
                  <a:srgbClr val="15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Go-2 — сборка приложения. Go-4 — сквозная проверка. Каждый исправляет свою часть.</a:t>
            </a:r>
            <a:endParaRPr lang="ru-RU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00" y="317500"/>
            <a:ext cx="8636000" cy="158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000" b="1" dirty="0">
                <a:solidFill>
                  <a:srgbClr val="6975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 РАЗРАБОТКИ</a:t>
            </a:r>
            <a:endParaRPr lang="ru-RU" sz="1000" dirty="0"/>
          </a:p>
        </p:txBody>
      </p:sp>
      <p:sp>
        <p:nvSpPr>
          <p:cNvPr id="4" name="Text 1"/>
          <p:cNvSpPr/>
          <p:nvPr/>
        </p:nvSpPr>
        <p:spPr>
          <a:xfrm>
            <a:off x="609600" y="673100"/>
            <a:ext cx="10972800" cy="492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3100" b="1" dirty="0">
                <a:solidFill>
                  <a:srgbClr val="15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Дополнения после основы</a:t>
            </a:r>
            <a:endParaRPr lang="ru-RU" sz="3100" dirty="0"/>
          </a:p>
        </p:txBody>
      </p:sp>
      <p:sp>
        <p:nvSpPr>
          <p:cNvPr id="5" name="Text 2"/>
          <p:cNvSpPr/>
          <p:nvPr/>
        </p:nvSpPr>
        <p:spPr>
          <a:xfrm>
            <a:off x="609600" y="1257300"/>
            <a:ext cx="10972800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400" dirty="0">
                <a:solidFill>
                  <a:srgbClr val="6975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Начинаем после совместной работы блоков F1–F7.</a:t>
            </a:r>
            <a:endParaRPr lang="ru-RU" sz="1400" dirty="0"/>
          </a:p>
        </p:txBody>
      </p:sp>
      <p:sp>
        <p:nvSpPr>
          <p:cNvPr id="6" name="Shape 3"/>
          <p:cNvSpPr/>
          <p:nvPr/>
        </p:nvSpPr>
        <p:spPr>
          <a:xfrm>
            <a:off x="609600" y="6413500"/>
            <a:ext cx="10972800" cy="0"/>
          </a:xfrm>
          <a:prstGeom prst="line">
            <a:avLst/>
          </a:prstGeom>
          <a:noFill/>
          <a:ln w="8890">
            <a:solidFill>
              <a:srgbClr val="DDDCD6"/>
            </a:solidFill>
            <a:prstDash val="solid"/>
            <a:headEnd type="none"/>
            <a:tailEnd type="none"/>
          </a:ln>
        </p:spPr>
      </p:sp>
      <p:sp>
        <p:nvSpPr>
          <p:cNvPr id="7" name="Text 4"/>
          <p:cNvSpPr/>
          <p:nvPr/>
        </p:nvSpPr>
        <p:spPr>
          <a:xfrm>
            <a:off x="609600" y="6565900"/>
            <a:ext cx="99695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900" dirty="0">
                <a:solidFill>
                  <a:srgbClr val="6975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docs/work_breakdown.md · docs/functional_scope.md</a:t>
            </a:r>
            <a:endParaRPr lang="ru-RU" sz="900" dirty="0"/>
          </a:p>
        </p:txBody>
      </p:sp>
      <p:sp>
        <p:nvSpPr>
          <p:cNvPr id="8" name="Text 5"/>
          <p:cNvSpPr/>
          <p:nvPr/>
        </p:nvSpPr>
        <p:spPr>
          <a:xfrm>
            <a:off x="10769600" y="6540500"/>
            <a:ext cx="812800" cy="158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ru-RU" altLang="en-US" sz="1000" b="1" dirty="0">
                <a:solidFill>
                  <a:srgbClr val="6975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10</a:t>
            </a:r>
            <a:endParaRPr lang="ru-RU" sz="1000" dirty="0"/>
          </a:p>
        </p:txBody>
      </p:sp>
      <p:sp>
        <p:nvSpPr>
          <p:cNvPr id="9" name="Shape 6"/>
          <p:cNvSpPr/>
          <p:nvPr/>
        </p:nvSpPr>
        <p:spPr>
          <a:xfrm>
            <a:off x="609600" y="1866900"/>
            <a:ext cx="3556000" cy="4394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09600" y="1866900"/>
            <a:ext cx="3556000" cy="50800"/>
          </a:xfrm>
          <a:prstGeom prst="rect">
            <a:avLst/>
          </a:prstGeom>
          <a:solidFill>
            <a:srgbClr val="FFD447"/>
          </a:solidFill>
          <a:ln w="12700">
            <a:solidFill>
              <a:srgbClr val="FFD447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38200" y="2133600"/>
            <a:ext cx="3098800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300" b="1" dirty="0">
                <a:solidFill>
                  <a:srgbClr val="6975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D1</a:t>
            </a:r>
            <a:endParaRPr lang="ru-RU" sz="1300" dirty="0"/>
          </a:p>
        </p:txBody>
      </p:sp>
      <p:sp>
        <p:nvSpPr>
          <p:cNvPr id="12" name="Text 9"/>
          <p:cNvSpPr/>
          <p:nvPr/>
        </p:nvSpPr>
        <p:spPr>
          <a:xfrm>
            <a:off x="838200" y="2476500"/>
            <a:ext cx="3098800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900" b="1" dirty="0">
                <a:solidFill>
                  <a:srgbClr val="15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Обеденный перерыв</a:t>
            </a:r>
            <a:endParaRPr lang="ru-RU" sz="1900" dirty="0"/>
          </a:p>
        </p:txBody>
      </p:sp>
      <p:sp>
        <p:nvSpPr>
          <p:cNvPr id="13" name="Text 10"/>
          <p:cNvSpPr/>
          <p:nvPr/>
        </p:nvSpPr>
        <p:spPr>
          <a:xfrm>
            <a:off x="838200" y="3314700"/>
            <a:ext cx="309880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500" b="1" dirty="0">
                <a:solidFill>
                  <a:srgbClr val="15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Ведущий: Go-1</a:t>
            </a:r>
            <a:endParaRPr lang="ru-RU" sz="1500" dirty="0"/>
          </a:p>
        </p:txBody>
      </p:sp>
      <p:sp>
        <p:nvSpPr>
          <p:cNvPr id="14" name="Text 11"/>
          <p:cNvSpPr/>
          <p:nvPr/>
        </p:nvSpPr>
        <p:spPr>
          <a:xfrm>
            <a:off x="838200" y="3873500"/>
            <a:ext cx="3098800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300" dirty="0">
                <a:solidFill>
                  <a:srgbClr val="15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Go-1: учёт перерыва в расписании.</a:t>
            </a:r>
            <a:endParaRPr lang="ru-RU" sz="1300" dirty="0"/>
          </a:p>
        </p:txBody>
      </p:sp>
      <p:sp>
        <p:nvSpPr>
          <p:cNvPr id="15" name="Text 12"/>
          <p:cNvSpPr/>
          <p:nvPr/>
        </p:nvSpPr>
        <p:spPr>
          <a:xfrm>
            <a:off x="838200" y="4419600"/>
            <a:ext cx="3098800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300" dirty="0">
                <a:solidFill>
                  <a:srgbClr val="15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Go-2: параметры и хранение.</a:t>
            </a:r>
            <a:endParaRPr lang="ru-RU" sz="1300" dirty="0"/>
          </a:p>
        </p:txBody>
      </p:sp>
      <p:sp>
        <p:nvSpPr>
          <p:cNvPr id="16" name="Text 13"/>
          <p:cNvSpPr/>
          <p:nvPr/>
        </p:nvSpPr>
        <p:spPr>
          <a:xfrm>
            <a:off x="838200" y="4965700"/>
            <a:ext cx="3098800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300" dirty="0">
                <a:solidFill>
                  <a:srgbClr val="15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Go-4: проверка и перепланирование.</a:t>
            </a:r>
            <a:endParaRPr lang="ru-RU" sz="1300" dirty="0"/>
          </a:p>
        </p:txBody>
      </p:sp>
      <p:sp>
        <p:nvSpPr>
          <p:cNvPr id="17" name="Text 14"/>
          <p:cNvSpPr/>
          <p:nvPr/>
        </p:nvSpPr>
        <p:spPr>
          <a:xfrm>
            <a:off x="838200" y="5511800"/>
            <a:ext cx="3098800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300" dirty="0">
                <a:solidFill>
                  <a:srgbClr val="15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Frontend: ввод и отображение.</a:t>
            </a:r>
            <a:endParaRPr lang="ru-RU" sz="1300" dirty="0"/>
          </a:p>
        </p:txBody>
      </p:sp>
      <p:sp>
        <p:nvSpPr>
          <p:cNvPr id="18" name="Shape 15"/>
          <p:cNvSpPr/>
          <p:nvPr/>
        </p:nvSpPr>
        <p:spPr>
          <a:xfrm>
            <a:off x="4318000" y="1866900"/>
            <a:ext cx="3556000" cy="4394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318000" y="1866900"/>
            <a:ext cx="3556000" cy="50800"/>
          </a:xfrm>
          <a:prstGeom prst="rect">
            <a:avLst/>
          </a:prstGeom>
          <a:solidFill>
            <a:srgbClr val="B6A0E6"/>
          </a:solidFill>
          <a:ln w="12700">
            <a:solidFill>
              <a:srgbClr val="B6A0E6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546600" y="2133600"/>
            <a:ext cx="3098800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300" b="1" dirty="0">
                <a:solidFill>
                  <a:srgbClr val="6975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D2</a:t>
            </a:r>
            <a:endParaRPr lang="ru-RU" sz="1300" dirty="0"/>
          </a:p>
        </p:txBody>
      </p:sp>
      <p:sp>
        <p:nvSpPr>
          <p:cNvPr id="21" name="Text 18"/>
          <p:cNvSpPr/>
          <p:nvPr/>
        </p:nvSpPr>
        <p:spPr>
          <a:xfrm>
            <a:off x="4546600" y="2476500"/>
            <a:ext cx="3098800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900" b="1" dirty="0">
                <a:solidFill>
                  <a:srgbClr val="15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Ручное переназначение</a:t>
            </a:r>
            <a:endParaRPr lang="ru-RU" sz="1900" dirty="0"/>
          </a:p>
        </p:txBody>
      </p:sp>
      <p:sp>
        <p:nvSpPr>
          <p:cNvPr id="22" name="Text 19"/>
          <p:cNvSpPr/>
          <p:nvPr/>
        </p:nvSpPr>
        <p:spPr>
          <a:xfrm>
            <a:off x="4546600" y="2761234"/>
            <a:ext cx="3098800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900" b="1" dirty="0">
                <a:solidFill>
                  <a:srgbClr val="15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закрепление</a:t>
            </a:r>
            <a:endParaRPr lang="ru-RU" sz="1900" dirty="0"/>
          </a:p>
        </p:txBody>
      </p:sp>
      <p:sp>
        <p:nvSpPr>
          <p:cNvPr id="23" name="Text 20"/>
          <p:cNvSpPr/>
          <p:nvPr/>
        </p:nvSpPr>
        <p:spPr>
          <a:xfrm>
            <a:off x="4546600" y="3314700"/>
            <a:ext cx="309880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500" b="1" dirty="0">
                <a:solidFill>
                  <a:srgbClr val="15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Ведущий: Go-4</a:t>
            </a:r>
            <a:endParaRPr lang="ru-RU" sz="1500" dirty="0"/>
          </a:p>
        </p:txBody>
      </p:sp>
      <p:sp>
        <p:nvSpPr>
          <p:cNvPr id="24" name="Text 21"/>
          <p:cNvSpPr/>
          <p:nvPr/>
        </p:nvSpPr>
        <p:spPr>
          <a:xfrm>
            <a:off x="4546600" y="3873500"/>
            <a:ext cx="3098800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300" dirty="0">
                <a:solidFill>
                  <a:srgbClr val="15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Go-4: процесс изменения и проверка.</a:t>
            </a:r>
            <a:endParaRPr lang="ru-RU" sz="1300" dirty="0"/>
          </a:p>
        </p:txBody>
      </p:sp>
      <p:sp>
        <p:nvSpPr>
          <p:cNvPr id="25" name="Text 22"/>
          <p:cNvSpPr/>
          <p:nvPr/>
        </p:nvSpPr>
        <p:spPr>
          <a:xfrm>
            <a:off x="4546600" y="4419600"/>
            <a:ext cx="3098800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300" dirty="0">
                <a:solidFill>
                  <a:srgbClr val="15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Go-1: закрепления в алгоритме.</a:t>
            </a:r>
            <a:endParaRPr lang="ru-RU" sz="1300" dirty="0"/>
          </a:p>
        </p:txBody>
      </p:sp>
      <p:sp>
        <p:nvSpPr>
          <p:cNvPr id="26" name="Text 23"/>
          <p:cNvSpPr/>
          <p:nvPr/>
        </p:nvSpPr>
        <p:spPr>
          <a:xfrm>
            <a:off x="4546600" y="4965700"/>
            <a:ext cx="3098800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300" dirty="0">
                <a:solidFill>
                  <a:srgbClr val="15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Go-2: API и хранение.</a:t>
            </a:r>
            <a:endParaRPr lang="ru-RU" sz="1300" dirty="0"/>
          </a:p>
        </p:txBody>
      </p:sp>
      <p:sp>
        <p:nvSpPr>
          <p:cNvPr id="27" name="Text 24"/>
          <p:cNvSpPr/>
          <p:nvPr/>
        </p:nvSpPr>
        <p:spPr>
          <a:xfrm>
            <a:off x="4546600" y="5511800"/>
            <a:ext cx="3098800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300" dirty="0">
                <a:solidFill>
                  <a:srgbClr val="15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Frontend: форма и конфликты.</a:t>
            </a:r>
            <a:endParaRPr lang="ru-RU" sz="1300" dirty="0"/>
          </a:p>
        </p:txBody>
      </p:sp>
      <p:sp>
        <p:nvSpPr>
          <p:cNvPr id="28" name="Shape 25"/>
          <p:cNvSpPr/>
          <p:nvPr/>
        </p:nvSpPr>
        <p:spPr>
          <a:xfrm>
            <a:off x="8026400" y="1866900"/>
            <a:ext cx="3556000" cy="4394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8026400" y="1866900"/>
            <a:ext cx="3556000" cy="50800"/>
          </a:xfrm>
          <a:prstGeom prst="rect">
            <a:avLst/>
          </a:prstGeom>
          <a:solidFill>
            <a:srgbClr val="60CDBD"/>
          </a:solidFill>
          <a:ln w="12700">
            <a:solidFill>
              <a:srgbClr val="60CDBD">
                <a:alpha val="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255000" y="2133600"/>
            <a:ext cx="3098800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300" b="1" dirty="0">
                <a:solidFill>
                  <a:srgbClr val="6975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D3</a:t>
            </a:r>
            <a:endParaRPr lang="ru-RU" sz="1300" dirty="0"/>
          </a:p>
        </p:txBody>
      </p:sp>
      <p:sp>
        <p:nvSpPr>
          <p:cNvPr id="31" name="Text 28"/>
          <p:cNvSpPr/>
          <p:nvPr/>
        </p:nvSpPr>
        <p:spPr>
          <a:xfrm>
            <a:off x="8255000" y="2476500"/>
            <a:ext cx="3098800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900" b="1" dirty="0">
                <a:solidFill>
                  <a:srgbClr val="15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Учёт оборудования</a:t>
            </a:r>
            <a:endParaRPr lang="ru-RU" sz="1900" dirty="0"/>
          </a:p>
        </p:txBody>
      </p:sp>
      <p:sp>
        <p:nvSpPr>
          <p:cNvPr id="32" name="Text 29"/>
          <p:cNvSpPr/>
          <p:nvPr/>
        </p:nvSpPr>
        <p:spPr>
          <a:xfrm>
            <a:off x="8255000" y="3314700"/>
            <a:ext cx="309880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500" b="1" dirty="0">
                <a:solidFill>
                  <a:srgbClr val="15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Ведущий: Go-1</a:t>
            </a:r>
            <a:endParaRPr lang="ru-RU" sz="1500" dirty="0"/>
          </a:p>
        </p:txBody>
      </p:sp>
      <p:sp>
        <p:nvSpPr>
          <p:cNvPr id="33" name="Text 30"/>
          <p:cNvSpPr/>
          <p:nvPr/>
        </p:nvSpPr>
        <p:spPr>
          <a:xfrm>
            <a:off x="8255000" y="3873500"/>
            <a:ext cx="3098800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300" dirty="0">
                <a:solidFill>
                  <a:srgbClr val="15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Go-1: ограничения по оборудованию.</a:t>
            </a:r>
            <a:endParaRPr lang="ru-RU" sz="1300" dirty="0"/>
          </a:p>
        </p:txBody>
      </p:sp>
      <p:sp>
        <p:nvSpPr>
          <p:cNvPr id="34" name="Text 31"/>
          <p:cNvSpPr/>
          <p:nvPr/>
        </p:nvSpPr>
        <p:spPr>
          <a:xfrm>
            <a:off x="8255000" y="4419600"/>
            <a:ext cx="3098800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300" dirty="0">
                <a:solidFill>
                  <a:srgbClr val="15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Go-2: запасы и потребности.</a:t>
            </a:r>
            <a:endParaRPr lang="ru-RU" sz="1300" dirty="0"/>
          </a:p>
        </p:txBody>
      </p:sp>
      <p:sp>
        <p:nvSpPr>
          <p:cNvPr id="35" name="Text 32"/>
          <p:cNvSpPr/>
          <p:nvPr/>
        </p:nvSpPr>
        <p:spPr>
          <a:xfrm>
            <a:off x="8255000" y="4965700"/>
            <a:ext cx="3098800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300" dirty="0">
                <a:solidFill>
                  <a:srgbClr val="15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Go-4: проверка и остатки при</a:t>
            </a:r>
            <a:endParaRPr lang="ru-RU" sz="1300" dirty="0"/>
          </a:p>
        </p:txBody>
      </p:sp>
      <p:sp>
        <p:nvSpPr>
          <p:cNvPr id="36" name="Text 33"/>
          <p:cNvSpPr/>
          <p:nvPr/>
        </p:nvSpPr>
        <p:spPr>
          <a:xfrm>
            <a:off x="8255000" y="5160518"/>
            <a:ext cx="3098800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300" dirty="0">
                <a:solidFill>
                  <a:srgbClr val="15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пересчёте.</a:t>
            </a:r>
            <a:endParaRPr lang="ru-RU" sz="1300" dirty="0"/>
          </a:p>
        </p:txBody>
      </p:sp>
      <p:sp>
        <p:nvSpPr>
          <p:cNvPr id="37" name="Text 34"/>
          <p:cNvSpPr/>
          <p:nvPr/>
        </p:nvSpPr>
        <p:spPr>
          <a:xfrm>
            <a:off x="8255000" y="5511800"/>
            <a:ext cx="3098800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300" dirty="0">
                <a:solidFill>
                  <a:srgbClr val="15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Frontend: ввод и отображение.</a:t>
            </a:r>
            <a:endParaRPr lang="ru-RU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Команда ЛЦТ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Распределение работы и контракты</dc:title>
  <dc:subject>Задачи исполнителей, контракты и порядок интеграции</dc:subject>
  <dc:creator>Команда проекта</dc:creator>
  <cp:lastModifiedBy>Команда проекта</cp:lastModifiedBy>
  <cp:revision>1</cp:revision>
  <dcterms:created xsi:type="dcterms:W3CDTF">2026-09-17T20:54:49Z</dcterms:created>
  <dcterms:modified xsi:type="dcterms:W3CDTF">2026-09-17T20:54:49Z</dcterms:modified>
</cp:coreProperties>
</file>